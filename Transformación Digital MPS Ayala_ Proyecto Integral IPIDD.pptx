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8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75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5AEF-637E-F0B9-9CE7-8281C556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B612C-12C7-B7B2-D233-D11FDF5D5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AF1E1-F58B-C113-E0C6-548FBF8A4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6DEEA-3B1F-F511-66DE-D42CEEAE4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04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microsoft.com/office/2007/relationships/hdphoto" Target="../media/hdphoto1.wdp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2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8.png"/><Relationship Id="rId10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microsoft.com/office/2007/relationships/hdphoto" Target="../media/hdphoto3.wdp"/><Relationship Id="rId18" Type="http://schemas.openxmlformats.org/officeDocument/2006/relationships/image" Target="../media/image2.png"/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jpe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3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jpeg"/><Relationship Id="rId1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png"/><Relationship Id="rId7" Type="http://schemas.openxmlformats.org/officeDocument/2006/relationships/image" Target="../media/image6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72.png"/><Relationship Id="rId5" Type="http://schemas.openxmlformats.org/officeDocument/2006/relationships/image" Target="../media/image68.png"/><Relationship Id="rId10" Type="http://schemas.openxmlformats.org/officeDocument/2006/relationships/image" Target="../media/image5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.png"/><Relationship Id="rId5" Type="http://schemas.openxmlformats.org/officeDocument/2006/relationships/image" Target="../media/image75.png"/><Relationship Id="rId10" Type="http://schemas.openxmlformats.org/officeDocument/2006/relationships/image" Target="../media/image26.png"/><Relationship Id="rId4" Type="http://schemas.openxmlformats.org/officeDocument/2006/relationships/image" Target="../media/image74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agrama de flujo: entrada manual 10">
            <a:extLst>
              <a:ext uri="{FF2B5EF4-FFF2-40B4-BE49-F238E27FC236}">
                <a16:creationId xmlns:a16="http://schemas.microsoft.com/office/drawing/2014/main" id="{496A44B6-4DCC-B3AA-107D-9AF2F914092E}"/>
              </a:ext>
            </a:extLst>
          </p:cNvPr>
          <p:cNvSpPr/>
          <p:nvPr/>
        </p:nvSpPr>
        <p:spPr>
          <a:xfrm flipH="1" flipV="1">
            <a:off x="-3" y="7723"/>
            <a:ext cx="12191999" cy="1975865"/>
          </a:xfrm>
          <a:prstGeom prst="flowChartManualInput">
            <a:avLst/>
          </a:prstGeom>
          <a:solidFill>
            <a:srgbClr val="000000">
              <a:alpha val="8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Text 1"/>
          <p:cNvSpPr/>
          <p:nvPr/>
        </p:nvSpPr>
        <p:spPr>
          <a:xfrm>
            <a:off x="488696" y="419965"/>
            <a:ext cx="11144504" cy="1508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200" b="1" kern="0" spc="-120" dirty="0" err="1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Transformación</a:t>
            </a:r>
            <a:r>
              <a:rPr lang="en-US" sz="5200" b="1" kern="0" spc="-120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 Digital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5200" b="1" kern="0" spc="-120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MPS Ayala: Proyecto Integral IPIDD</a:t>
            </a:r>
            <a:endParaRPr lang="en-US" sz="5200" b="1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F525B44-9F1E-9064-651C-C7D2B6684EAE}"/>
              </a:ext>
            </a:extLst>
          </p:cNvPr>
          <p:cNvCxnSpPr/>
          <p:nvPr/>
        </p:nvCxnSpPr>
        <p:spPr>
          <a:xfrm>
            <a:off x="437896" y="6261578"/>
            <a:ext cx="1128674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2"/>
          <p:cNvSpPr/>
          <p:nvPr/>
        </p:nvSpPr>
        <p:spPr>
          <a:xfrm>
            <a:off x="1432036" y="5881523"/>
            <a:ext cx="9381744" cy="42069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00" spc="300" dirty="0">
                <a:solidFill>
                  <a:srgbClr val="374151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Estrategia avanzada para la innovación y optimización de infraestructuras tecnológicas.</a:t>
            </a:r>
            <a:endParaRPr lang="en-US" sz="1600" spc="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4A7C8DD-DFF0-75E7-3B5C-53FB90EBF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447" y="3499201"/>
            <a:ext cx="5181105" cy="1119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ángulo 51">
            <a:extLst>
              <a:ext uri="{FF2B5EF4-FFF2-40B4-BE49-F238E27FC236}">
                <a16:creationId xmlns:a16="http://schemas.microsoft.com/office/drawing/2014/main" id="{97AC46AE-C623-C4E1-DE56-6D190EA48AEC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65700" y="286643"/>
            <a:ext cx="11768328" cy="438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3465"/>
              </a:lnSpc>
              <a:buNone/>
            </a:pPr>
            <a:r>
              <a:rPr lang="en-US" sz="3150" b="1" kern="0" spc="-80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Contenido: Transformación Digital MPS Ayala</a:t>
            </a:r>
            <a:endParaRPr lang="en-US" sz="31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7250" y="101143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126384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01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3702" y="1282898"/>
            <a:ext cx="272491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Visión Estratégica y Propósito del Proyecto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53150" y="101143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43650" y="126384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02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18337" y="1282898"/>
            <a:ext cx="24871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Metodología IPIDD Basada en DMAIC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7250" y="184011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209252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03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25563" y="2111573"/>
            <a:ext cx="27432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1: Diagnóstico Operativo y Línea Base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53150" y="184011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43650" y="209252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04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17816" y="2111573"/>
            <a:ext cx="290779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2: Ecosistema de Inventarios Inteligentes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7250" y="266878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7750" y="292119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05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24819" y="2940248"/>
            <a:ext cx="265176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2-3: Módulo de Ventas y Facturación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3150" y="266878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650" y="292119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06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17593" y="2940248"/>
            <a:ext cx="311810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FerreBot IA: Asistente Operativo WhatsApp 24/7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7250" y="349746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7750" y="374987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07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5191" y="3768923"/>
            <a:ext cx="257860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Sitio Web Profesional y Presencia Digital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53150" y="349746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43650" y="374987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08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21165" y="3768923"/>
            <a:ext cx="258775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Dashboard de Control y Gestión de KPIs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7250" y="432613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7750" y="457854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09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21842" y="4597598"/>
            <a:ext cx="28712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Cronograma de Implementación (8 Semanas)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53150" y="4326136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43650" y="4578548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10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19081" y="4597598"/>
            <a:ext cx="224028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Estructura de Inversión y Paquetes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7250" y="515481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47750" y="540722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11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521693" y="5426273"/>
            <a:ext cx="27432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Impacto Operativo y Resultados Esperados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53150" y="5154811"/>
            <a:ext cx="5181600" cy="714375"/>
          </a:xfrm>
          <a:prstGeom prst="roundRect">
            <a:avLst>
              <a:gd name="adj" fmla="val 10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43650" y="5407223"/>
            <a:ext cx="40233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ln/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12</a:t>
            </a:r>
            <a:endParaRPr lang="en-US" sz="1650" b="1" dirty="0">
              <a:ln/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21909" y="5426273"/>
            <a:ext cx="323697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Ventajas Competitivas y Soporte Post-Lanzamiento</a:t>
            </a:r>
            <a:endParaRPr lang="en-US" sz="11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344433C4-9323-0074-4E32-AA1C931E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46" y="162653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AD6AC4CD-8621-4B65-6747-745B9E676EA2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281" y="380033"/>
            <a:ext cx="1162202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Visión Estratégica y Propósito</a:t>
            </a:r>
            <a:endParaRPr lang="en-US" sz="36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09750" y="961876"/>
            <a:ext cx="8622792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Transformación digital de MPS Ayala mediante un ecosistema integrado con enfoque en precisión y energía digital para la excelencia operativa.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39879"/>
            <a:ext cx="5543550" cy="1386334"/>
          </a:xfrm>
          <a:prstGeom prst="roundRect">
            <a:avLst>
              <a:gd name="adj" fmla="val 8245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3940" y="2187529"/>
            <a:ext cx="17007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Misión del Proyecto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29250" y="2130379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4500" y="2225629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47321"/>
            <a:ext cx="5129784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Transformar la operación de MPS Ayala mediante soluciones digitales avanzadas, optimizando procesos y alcanzando la excelencia operativa en el sector.</a:t>
            </a:r>
            <a:endParaRPr lang="en-US" sz="114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1250" y="1939879"/>
            <a:ext cx="5543550" cy="1386334"/>
          </a:xfrm>
          <a:prstGeom prst="roundRect">
            <a:avLst>
              <a:gd name="adj" fmla="val 8245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17990" y="2187529"/>
            <a:ext cx="219456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Optimización de Procesos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163300" y="2130379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D2D2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39500" y="2225629"/>
            <a:ext cx="1905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9850" y="2549628"/>
            <a:ext cx="5129784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14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Flujos de trabajo inteligentes que reducen tiempos de respuesta y mejoran significativamente la calidad de la atención al cliente final.</a:t>
            </a:r>
            <a:endParaRPr lang="en-US" sz="114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3516713"/>
            <a:ext cx="5543550" cy="1190923"/>
          </a:xfrm>
          <a:prstGeom prst="roundRect">
            <a:avLst>
              <a:gd name="adj" fmla="val 9598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7809" y="3764363"/>
            <a:ext cx="162763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Indicadores (KPIs)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429250" y="3707213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D2D2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24500" y="3802463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" y="4126462"/>
            <a:ext cx="5129784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14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Generación y análisis de indicadores clave en tiempo real para facilitar la toma de decisiones estratégicas basadas en datos precisos y objetivos.</a:t>
            </a:r>
            <a:endParaRPr lang="en-US" sz="114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191250" y="3516713"/>
            <a:ext cx="5543550" cy="1190923"/>
          </a:xfrm>
          <a:prstGeom prst="roundRect">
            <a:avLst>
              <a:gd name="adj" fmla="val 959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18138" y="3764363"/>
            <a:ext cx="146304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Propósito Digital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163300" y="3707213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39500" y="3802463"/>
            <a:ext cx="1905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9850" y="4126462"/>
            <a:ext cx="5129784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Digitalizar la operación conectando inventarios, ventas y atención al cliente en un único ecosistema inteligente, eficiente y escalable.</a:t>
            </a:r>
            <a:endParaRPr lang="en-US" sz="114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57200" y="5395317"/>
            <a:ext cx="11277600" cy="1081683"/>
          </a:xfrm>
          <a:prstGeom prst="roundRect">
            <a:avLst>
              <a:gd name="adj" fmla="val 1056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85800" y="5585817"/>
            <a:ext cx="11091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Proyecto Integral IPIDD: Un Futuro Conectado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85800" y="5879009"/>
            <a:ext cx="10863072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Al integrar todas las áreas operativas bajo el concepto de "Precisión y Energía", aseguramos la competitividad y el liderazgo en el sector ferretero, garantizando una gestión de recursos impecable y una experiencia de usuario superior basada en una infraestructura digital robusta.</a:t>
            </a:r>
            <a:endParaRPr lang="en-US" sz="114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9BB2348-E359-671E-9CBE-565CC0818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165" y="4664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B8C8BAF2-07B4-43AE-8E46-F1D0150A663E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424" y="38100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Metodología IPIDD Basada en DMAIC</a:t>
            </a:r>
            <a:endParaRPr lang="en-US" sz="31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09750" y="914400"/>
            <a:ext cx="861364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Transformación digital estructurada combinando consultoría operativa y desarrollo tecnológico para la detección de causas raíz y sostenibilidad del sistema.</a:t>
            </a:r>
            <a:endParaRPr lang="en-US" sz="112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04950"/>
            <a:ext cx="3845868" cy="1682651"/>
          </a:xfrm>
          <a:prstGeom prst="roundRect">
            <a:avLst>
              <a:gd name="adj" fmla="val 679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7626" y="1952030"/>
            <a:ext cx="75895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1. Definir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07768" y="1899642"/>
            <a:ext cx="304800" cy="3048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74443" y="1966317"/>
            <a:ext cx="171450" cy="1714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6584" y="2279600"/>
            <a:ext cx="3502152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Identificar procesos críticos y puntos de mejora estratégicos dentro de la organización.</a:t>
            </a:r>
            <a:endParaRPr lang="en-US" sz="97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584" y="2659559"/>
            <a:ext cx="356616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i="1" dirty="0">
                <a:solidFill>
                  <a:srgbClr val="FFFFFF">
                    <a:alpha val="9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Resultado: Diagnóstico DMAIC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340001"/>
            <a:ext cx="3845868" cy="1682800"/>
          </a:xfrm>
          <a:prstGeom prst="roundRect">
            <a:avLst>
              <a:gd name="adj" fmla="val 6792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7626" y="3787080"/>
            <a:ext cx="6858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2. Medir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07768" y="3734693"/>
            <a:ext cx="304800" cy="3048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>
            <a:biLevel thresh="75000"/>
          </a:blip>
          <a:srcRect/>
          <a:stretch/>
        </p:blipFill>
        <p:spPr>
          <a:xfrm>
            <a:off x="3874443" y="3801368"/>
            <a:ext cx="171450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6584" y="4114651"/>
            <a:ext cx="3502152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Capturar datos operacionales reales para establecer una línea base de rendimiento.</a:t>
            </a:r>
            <a:endParaRPr lang="en-US" sz="97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6584" y="4494609"/>
            <a:ext cx="356616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i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Resultado: KPIs iniciales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 t="-151" b="-151"/>
          <a:stretch/>
        </p:blipFill>
        <p:spPr>
          <a:xfrm>
            <a:off x="802779" y="5175200"/>
            <a:ext cx="3152775" cy="1304925"/>
          </a:xfrm>
          <a:prstGeom prst="rect">
            <a:avLst/>
          </a:prstGeom>
        </p:spPr>
      </p:pic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493568" y="1504950"/>
            <a:ext cx="3200400" cy="4972050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67400" y="2138363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18162" y="2786063"/>
            <a:ext cx="160934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Marco Integrado</a:t>
            </a:r>
            <a:endParaRPr lang="en-US" sz="16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4724400" y="3148013"/>
            <a:ext cx="2779776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Un ciclo de mejora continua que fusiona la excelencia operativa con el despliegue de soluciones tecnológicas personalizadas.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33963" y="3938588"/>
            <a:ext cx="2124075" cy="1905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888932" y="1504950"/>
            <a:ext cx="3845868" cy="1555700"/>
          </a:xfrm>
          <a:prstGeom prst="roundRect">
            <a:avLst>
              <a:gd name="adj" fmla="val 734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079432" y="1888480"/>
            <a:ext cx="86868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3. Analizar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239500" y="1836093"/>
            <a:ext cx="304800" cy="3048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6" name="Image 6" descr="image.png"/>
          <p:cNvPicPr>
            <a:picLocks noChangeAspect="1"/>
          </p:cNvPicPr>
          <p:nvPr/>
        </p:nvPicPr>
        <p:blipFill>
          <a:blip r:embed="rId9">
            <a:biLevel thresh="75000"/>
          </a:blip>
          <a:srcRect/>
          <a:stretch/>
        </p:blipFill>
        <p:spPr>
          <a:xfrm>
            <a:off x="11306175" y="1902768"/>
            <a:ext cx="171450" cy="1714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7" name="Text 18"/>
          <p:cNvSpPr/>
          <p:nvPr/>
        </p:nvSpPr>
        <p:spPr>
          <a:xfrm>
            <a:off x="8078316" y="2216051"/>
            <a:ext cx="3502152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Detectar causas raíz y oportunidades estratégicas mediante el análisis de datos.</a:t>
            </a:r>
            <a:endParaRPr lang="en-US" sz="97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8078316" y="2596009"/>
            <a:ext cx="356616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i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Resultado: Plan de acción digital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7888932" y="3213050"/>
            <a:ext cx="3845868" cy="1555849"/>
          </a:xfrm>
          <a:prstGeom prst="roundRect">
            <a:avLst>
              <a:gd name="adj" fmla="val 734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8079209" y="3596729"/>
            <a:ext cx="85039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4. Mejorar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11239500" y="3544342"/>
            <a:ext cx="304800" cy="3048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2" name="Image 7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306175" y="3611017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078316" y="3924300"/>
            <a:ext cx="3502152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Implementar soluciones tecnológicas personalizadas para optimizar la operación.</a:t>
            </a:r>
            <a:endParaRPr lang="en-US" sz="97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8078316" y="4304258"/>
            <a:ext cx="356616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i="1" dirty="0">
                <a:solidFill>
                  <a:srgbClr val="FFFFFF">
                    <a:alpha val="9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Resultado: Sistema +FerreBot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7888932" y="4921300"/>
            <a:ext cx="3845868" cy="1555700"/>
          </a:xfrm>
          <a:prstGeom prst="roundRect">
            <a:avLst>
              <a:gd name="adj" fmla="val 734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077870" y="5304830"/>
            <a:ext cx="96926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5. Controlar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11239500" y="5252442"/>
            <a:ext cx="304800" cy="3048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8" name="Image 8" descr="image.png"/>
          <p:cNvPicPr>
            <a:picLocks noChangeAspect="1"/>
          </p:cNvPicPr>
          <p:nvPr/>
        </p:nvPicPr>
        <p:blipFill>
          <a:blip r:embed="rId11">
            <a:biLevel thresh="75000"/>
          </a:blip>
          <a:srcRect/>
          <a:stretch/>
        </p:blipFill>
        <p:spPr>
          <a:xfrm>
            <a:off x="11306175" y="5319117"/>
            <a:ext cx="171450" cy="17145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078316" y="5632400"/>
            <a:ext cx="3502152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Monitorear resultados y asegurar la sostenibilidad del sistema a largo plazo.</a:t>
            </a:r>
            <a:endParaRPr lang="en-US" sz="97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8078316" y="6012359"/>
            <a:ext cx="356616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i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Resultado: Dashboard de KPIs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D80C3C20-F15D-9F92-0E96-6B939E7E58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491" y="4664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CD627E20-2948-FA32-0B44-A9FB370EA7B1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424" y="38100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1: Diagnóstico Operativo y Línea Base</a:t>
            </a:r>
            <a:endParaRPr lang="en-US" sz="31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23596" y="914400"/>
            <a:ext cx="87965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Proyecto Integral IPIDD - Identificación de puntos críticos y captura de datos iniciales.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43025"/>
            <a:ext cx="3632150" cy="5133975"/>
          </a:xfrm>
          <a:prstGeom prst="roundRect">
            <a:avLst>
              <a:gd name="adj" fmla="val 314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l="-37" r="-37"/>
          <a:stretch/>
        </p:blipFill>
        <p:spPr>
          <a:xfrm>
            <a:off x="647700" y="2209949"/>
            <a:ext cx="3248025" cy="22383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252" y="4565377"/>
            <a:ext cx="233172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Identificación y Recopilación</a:t>
            </a:r>
            <a:endParaRPr lang="en-US" sz="142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2453" y="4876800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1113" y="4876800"/>
            <a:ext cx="3017520" cy="192024"/>
          </a:xfrm>
          <a:prstGeom prst="rect">
            <a:avLst/>
          </a:prstGeom>
          <a:noFill/>
          <a:ln/>
        </p:spPr>
        <p:txBody>
          <a:bodyPr vert="horz" wrap="none" lIns="13335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Metodología </a:t>
            </a:r>
            <a:r>
              <a:rPr lang="en-US" sz="10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DMAIC</a:t>
            </a: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para procesos críticos.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2453" y="5120580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1113" y="5120580"/>
            <a:ext cx="3017520" cy="192024"/>
          </a:xfrm>
          <a:prstGeom prst="rect">
            <a:avLst/>
          </a:prstGeom>
          <a:noFill/>
          <a:ln/>
        </p:spPr>
        <p:txBody>
          <a:bodyPr vert="horz" wrap="none" lIns="13335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Captura exhaustiva de datos operativos reales.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12453" y="5364361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1113" y="5364361"/>
            <a:ext cx="3017520" cy="192024"/>
          </a:xfrm>
          <a:prstGeom prst="rect">
            <a:avLst/>
          </a:prstGeom>
          <a:noFill/>
          <a:ln/>
        </p:spPr>
        <p:txBody>
          <a:bodyPr vert="horz" wrap="none" lIns="13335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Entregable:</a:t>
            </a: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Diagnóstico DMAIC completo.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79850" y="1343025"/>
            <a:ext cx="3632299" cy="2262634"/>
          </a:xfrm>
          <a:prstGeom prst="roundRect">
            <a:avLst>
              <a:gd name="adj" fmla="val 5052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71095" y="1532558"/>
            <a:ext cx="22951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Establecimiento del Baseline</a:t>
            </a:r>
            <a:endParaRPr lang="en-US" sz="14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78750" y="1533525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D1D1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7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74000" y="1628775"/>
            <a:ext cx="152400" cy="152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71988" y="1970633"/>
            <a:ext cx="3282696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Medición de variables: </a:t>
            </a:r>
            <a:r>
              <a:rPr lang="en-US" sz="1050" b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Inventarios, Ventas, Scrap</a:t>
            </a: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y tiempos. Define el punto de partida para cuantificar el progreso.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279850" y="3796159"/>
            <a:ext cx="3632299" cy="2680841"/>
          </a:xfrm>
          <a:prstGeom prst="roundRect">
            <a:avLst>
              <a:gd name="adj" fmla="val 426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470648" y="3985692"/>
            <a:ext cx="17190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Retorno de Inversión</a:t>
            </a:r>
            <a:endParaRPr lang="en-US" sz="142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378750" y="3986659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7EA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93050" y="4081909"/>
            <a:ext cx="114300" cy="152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71988" y="4423767"/>
            <a:ext cx="3282696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El Baseline es la base crítica para evaluar el éxito financiero y operativo. Sin datos iniciales precisos, no es posible medir el impacto del proyecto IPIDD.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6"/>
          <a:srcRect t="-148" b="-148"/>
          <a:stretch/>
        </p:blipFill>
        <p:spPr>
          <a:xfrm>
            <a:off x="4470350" y="5127575"/>
            <a:ext cx="3248025" cy="10953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02650" y="1343025"/>
            <a:ext cx="3632150" cy="5133975"/>
          </a:xfrm>
          <a:prstGeom prst="roundRect">
            <a:avLst>
              <a:gd name="adj" fmla="val 314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6" name="Image 4" descr="image.png"/>
          <p:cNvPicPr>
            <a:picLocks noChangeAspect="1"/>
          </p:cNvPicPr>
          <p:nvPr/>
        </p:nvPicPr>
        <p:blipFill>
          <a:blip r:embed="rId7"/>
          <a:srcRect t="-84" b="-84"/>
          <a:stretch/>
        </p:blipFill>
        <p:spPr>
          <a:xfrm>
            <a:off x="8293150" y="2152650"/>
            <a:ext cx="3248025" cy="21717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7" name="Text 20"/>
          <p:cNvSpPr/>
          <p:nvPr/>
        </p:nvSpPr>
        <p:spPr>
          <a:xfrm>
            <a:off x="8907860" y="4436046"/>
            <a:ext cx="207568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Visualización de Métricas</a:t>
            </a:r>
            <a:endParaRPr lang="en-US" sz="14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292703" y="4747468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8294712" y="4747468"/>
            <a:ext cx="3355848" cy="192024"/>
          </a:xfrm>
          <a:prstGeom prst="rect">
            <a:avLst/>
          </a:prstGeom>
          <a:noFill/>
          <a:ln/>
        </p:spPr>
        <p:txBody>
          <a:bodyPr vert="horz" wrap="none" lIns="13335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Entregable:</a:t>
            </a: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Reporte de KPIs iniciales.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8292703" y="4991249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8294712" y="4991249"/>
            <a:ext cx="3355848" cy="192024"/>
          </a:xfrm>
          <a:prstGeom prst="rect">
            <a:avLst/>
          </a:prstGeom>
          <a:noFill/>
          <a:ln/>
        </p:spPr>
        <p:txBody>
          <a:bodyPr vert="horz" wrap="none" lIns="13335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Gráficos de líneas finas para tendencias iniciales.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8292703" y="5235029"/>
            <a:ext cx="914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•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8294712" y="5237857"/>
            <a:ext cx="3282696" cy="374904"/>
          </a:xfrm>
          <a:prstGeom prst="rect">
            <a:avLst/>
          </a:prstGeom>
          <a:noFill/>
          <a:ln/>
        </p:spPr>
        <p:txBody>
          <a:bodyPr vert="horz" wrap="square" lIns="13335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Facilita la toma de decisiones informada desde el día uno.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1A0709A-BCF8-F0B2-BAF7-2312D29F47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 44">
            <a:extLst>
              <a:ext uri="{FF2B5EF4-FFF2-40B4-BE49-F238E27FC236}">
                <a16:creationId xmlns:a16="http://schemas.microsoft.com/office/drawing/2014/main" id="{51203E1F-6777-4519-6DE1-C46076ACC2EE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43376" y="457200"/>
            <a:ext cx="11612880" cy="4937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2: Ecosistema de Inventarios Inteligentes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47875" y="1097161"/>
            <a:ext cx="8147304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Implementación de una infraestructura digital robusta para la gestión de SKUs y la automatización operativa del Proyecto IPIDD.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56197"/>
            <a:ext cx="4510980" cy="4572000"/>
          </a:xfrm>
          <a:prstGeom prst="roundRect">
            <a:avLst>
              <a:gd name="adj" fmla="val 2534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15730" y="2127647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0980" y="2222897"/>
            <a:ext cx="190500" cy="190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850" y="2556272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6094" y="2489597"/>
            <a:ext cx="312724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Control Digital y Diseño Modular</a:t>
            </a:r>
            <a:endParaRPr lang="en-US" sz="16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2915" y="2851547"/>
            <a:ext cx="405993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Control Digital de SKUs: Gestión precisa y en tiempo real de cada artículo almacenado, eliminando errores manuales y garantizando la trazabilidad total.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2915" y="3727847"/>
            <a:ext cx="405993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Estructura Lógica: Un diseño modular que asegura la precisión geométrica en la organización, permitiendo una escalabilidad fluida conforme crecen las necesidades operativas de MPS Ayala.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04850" y="5999559"/>
            <a:ext cx="401568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850" y="6118622"/>
            <a:ext cx="152400" cy="1333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5350" y="6118622"/>
            <a:ext cx="394106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Precisión Operativa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272980" y="1956197"/>
            <a:ext cx="6461820" cy="2171700"/>
          </a:xfrm>
          <a:prstGeom prst="roundRect">
            <a:avLst>
              <a:gd name="adj" fmla="val 526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182350" y="2127647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87125" y="2222897"/>
            <a:ext cx="171450" cy="190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20630" y="2365772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708898" y="2299097"/>
            <a:ext cx="174650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Sistema de Alertas</a:t>
            </a:r>
            <a:endParaRPr lang="en-US" sz="16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522565" y="2661047"/>
            <a:ext cx="600760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Notificaciones automáticas de stock mínimo configurables para optimizar la disponibilidad. Previene interrupciones en la cadena de suministro mediante avisos preventivos.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520630" y="3599259"/>
            <a:ext cx="5966520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20630" y="3718322"/>
            <a:ext cx="133350" cy="1333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92080" y="3718322"/>
            <a:ext cx="594360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DEE8FD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Continuidad de Negocio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272980" y="4356497"/>
            <a:ext cx="6461820" cy="2171700"/>
          </a:xfrm>
          <a:prstGeom prst="roundRect">
            <a:avLst>
              <a:gd name="adj" fmla="val 526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182350" y="4527947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7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77600" y="4623197"/>
            <a:ext cx="190500" cy="1905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20630" y="4766072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5713065" y="4699397"/>
            <a:ext cx="264261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Automatización de Reportes</a:t>
            </a:r>
            <a:endParaRPr lang="en-US" sz="16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5522565" y="5061347"/>
            <a:ext cx="600760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Generación instantánea de informes de entradas y salidas. Herramienta crucial para la toma de decisiones basada en datos y la prevención de quiebres de stock.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5520630" y="5999559"/>
            <a:ext cx="5966520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2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20630" y="6118622"/>
            <a:ext cx="104775" cy="1333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63505" y="6118622"/>
            <a:ext cx="598017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DEE8FD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Inteligencia de Datos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61950" y="1860947"/>
            <a:ext cx="457200" cy="4572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542851" y="1989534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5177730" y="1860947"/>
            <a:ext cx="457200" cy="4572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5358631" y="1989534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2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177730" y="4261247"/>
            <a:ext cx="457200" cy="4572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5358631" y="4389834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3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1B7F6C87-FC7E-7674-8049-E33FA9A82C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533AC6C3-763D-CB28-0633-F5484664C1DC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376" y="457200"/>
            <a:ext cx="11612880" cy="4937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2-3: Módulo de Ventas y Facturación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0" y="1171575"/>
            <a:ext cx="7671816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Digitalización integral del ciclo comercial para optimizar la respuesta al mercado y asegurar la eficiencia administrativa en cada transacción.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43125"/>
            <a:ext cx="3606701" cy="3238500"/>
          </a:xfrm>
          <a:prstGeom prst="roundRect">
            <a:avLst>
              <a:gd name="adj" fmla="val 352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1950" y="20478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81000" y="2066925"/>
            <a:ext cx="419100" cy="419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2851" y="21764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11451" y="231457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30513" y="2409825"/>
            <a:ext cx="142875" cy="190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850" y="2628900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95499" y="2581275"/>
            <a:ext cx="1325880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Ciclo Comercial</a:t>
            </a:r>
            <a:endParaRPr lang="en-US" sz="142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03213" y="2905125"/>
            <a:ext cx="3154680" cy="1792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Cotizaciones rápidas y seguimiento digital mediante herramientas que agilizan la gestión de pedidos y optimizan el tiempo de respuesta al cliente.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04850" y="4852987"/>
            <a:ext cx="3111401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4850" y="4972050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6300" y="4972050"/>
            <a:ext cx="30358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Gestión de Pedidos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292501" y="2143125"/>
            <a:ext cx="3606850" cy="3238500"/>
          </a:xfrm>
          <a:prstGeom prst="roundRect">
            <a:avLst>
              <a:gd name="adj" fmla="val 3529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197251" y="20478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216301" y="2066925"/>
            <a:ext cx="419100" cy="419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78151" y="21764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2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346900" y="2314575"/>
            <a:ext cx="381000" cy="381000"/>
          </a:xfrm>
          <a:prstGeom prst="roundRect">
            <a:avLst>
              <a:gd name="adj" fmla="val 960000"/>
            </a:avLst>
          </a:prstGeom>
          <a:solidFill>
            <a:srgbClr val="D2D2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65963" y="2409825"/>
            <a:ext cx="142875" cy="1905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40151" y="2628900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729609" y="2581275"/>
            <a:ext cx="158191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Facturación Digital</a:t>
            </a:r>
            <a:endParaRPr lang="en-US" sz="1425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538588" y="2905125"/>
            <a:ext cx="3154680" cy="1792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Integración completa de la facturación electrónica dentro del flujo operativo para una administración eficiente, transparente y libre de errores manuales.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540151" y="4852987"/>
            <a:ext cx="311155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540151" y="4972050"/>
            <a:ext cx="133350" cy="1333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11601" y="4972050"/>
            <a:ext cx="30358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Cumplimiento Legal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8127950" y="2143125"/>
            <a:ext cx="3606850" cy="3238500"/>
          </a:xfrm>
          <a:prstGeom prst="roundRect">
            <a:avLst>
              <a:gd name="adj" fmla="val 352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032700" y="20478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1" name="Image 6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051750" y="2066925"/>
            <a:ext cx="419100" cy="4191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213601" y="21764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3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1182350" y="231457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4" name="Image 7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253788" y="2409825"/>
            <a:ext cx="238125" cy="1905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375600" y="2628900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564091" y="2581275"/>
            <a:ext cx="1828800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Experiencia e Impacto</a:t>
            </a:r>
            <a:endParaRPr lang="en-US" sz="142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8374038" y="2905125"/>
            <a:ext cx="3154680" cy="1792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Mejora profesional desde el primer contacto. Resultados medibles con un incremento del 35% en la capacidad de atención de cotizaciones.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8375600" y="4852987"/>
            <a:ext cx="3111550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9" name="Image 8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75600" y="4972050"/>
            <a:ext cx="104775" cy="1333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18475" y="4972050"/>
            <a:ext cx="307238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+35% Eficiencia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1106381F-36D0-DBCF-BF02-33BC83222C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ángulo 51">
            <a:extLst>
              <a:ext uri="{FF2B5EF4-FFF2-40B4-BE49-F238E27FC236}">
                <a16:creationId xmlns:a16="http://schemas.microsoft.com/office/drawing/2014/main" id="{E99EBD86-DA83-E2E0-B838-7EFB69B248F2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281" y="457200"/>
            <a:ext cx="11622024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FerreBot IA: Asistente Operativo WhatsApp 24/7</a:t>
            </a:r>
            <a:endParaRPr lang="en-US" sz="36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09419" y="1057275"/>
            <a:ext cx="781812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Transformación Digital MPS Ayala: Proyecto Integral IPIDD - Eficiencia y autonomía en atención al cliente.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57325"/>
            <a:ext cx="2647950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7700" y="1647825"/>
            <a:ext cx="193852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Consultas en Tiempo Real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33650" y="164782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7475" y="1771650"/>
            <a:ext cx="133350" cy="133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7700" y="2216944"/>
            <a:ext cx="230428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Acceso inmediato a la base de datos de inventario para proporcionar información precisa al instante.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7700" y="3448050"/>
            <a:ext cx="22669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700" y="3529013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Operativa 1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33750" y="1457325"/>
            <a:ext cx="2647950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24250" y="1647825"/>
            <a:ext cx="193852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Disponibilidad Total 24/7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10200" y="164782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4025" y="1771650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4250" y="2216944"/>
            <a:ext cx="230428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Servicio ininterrumpido que atiende solicitudes en cualquier momento, eliminando tiempos de espera.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524250" y="3448050"/>
            <a:ext cx="226695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524250" y="3529013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Operativa 2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210300" y="1457325"/>
            <a:ext cx="2647950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399237" y="1647825"/>
            <a:ext cx="192024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Autonomía Inteligente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286750" y="164782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1525" y="1771650"/>
            <a:ext cx="171450" cy="1333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2140744"/>
            <a:ext cx="2304288" cy="1197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Capacidad de resolver dudas operativas críticas sin necesidad de personal de soporte inmediato.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400800" y="3448050"/>
            <a:ext cx="226695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400800" y="3529013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Operativa 3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086850" y="1457325"/>
            <a:ext cx="2647950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277350" y="1647825"/>
            <a:ext cx="193852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Integración con WhatsApp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1163300" y="164782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96650" y="1771650"/>
            <a:ext cx="114300" cy="1333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77350" y="2216944"/>
            <a:ext cx="230428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Implementado en la plataforma de mensajería más utilizada para facilitar el acceso a todos los clientes.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277350" y="3448050"/>
            <a:ext cx="226695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9277350" y="3529013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Operativa 4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457200" y="4005262"/>
            <a:ext cx="7366099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47179" y="4195763"/>
            <a:ext cx="242316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Implementación Tecnológica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49263" y="4529138"/>
            <a:ext cx="372160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FerreBot IA redefine la gestión de inventario mediante algoritmos avanzados de inteligencia artificial.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119688"/>
            <a:ext cx="133350" cy="13335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55985" y="5081588"/>
            <a:ext cx="3054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Consultas de stock automatizadas en tiempo real.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8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395913"/>
            <a:ext cx="133350" cy="1333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8813" y="5357813"/>
            <a:ext cx="351129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Procesamiento de lenguaje natural para entender al cliente.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0" name="Image 6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776913"/>
            <a:ext cx="133350" cy="13335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58813" y="5738813"/>
            <a:ext cx="351129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Escalabilidad total para manejar múltiples chats simultáneos.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5299025" y="4441031"/>
            <a:ext cx="1524000" cy="1524000"/>
          </a:xfrm>
          <a:prstGeom prst="roundRect">
            <a:avLst>
              <a:gd name="adj" fmla="val 60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3" name="Image 7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32425" y="4974431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051899" y="4005262"/>
            <a:ext cx="3682901" cy="2395538"/>
          </a:xfrm>
          <a:prstGeom prst="roundRect">
            <a:avLst>
              <a:gd name="adj" fmla="val 4771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8240762" y="4195763"/>
            <a:ext cx="34198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Eficiencia Estratégica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8240762" y="4576763"/>
            <a:ext cx="3346704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La automatización de consultas libera recursos humanos para tareas de mayor valor, asegurando respuestas instantáneas y fidelización del cliente.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8242399" y="5810250"/>
            <a:ext cx="3301901" cy="400050"/>
          </a:xfrm>
          <a:prstGeom prst="roundRect">
            <a:avLst>
              <a:gd name="adj" fmla="val 1904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8357741" y="5934075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Valor Clave: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9" name="Text 39"/>
          <p:cNvSpPr/>
          <p:nvPr/>
        </p:nvSpPr>
        <p:spPr>
          <a:xfrm>
            <a:off x="10295855" y="5924550"/>
            <a:ext cx="119786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Autonomía 24/7</a:t>
            </a:r>
            <a:endParaRPr lang="en-US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B4B3A1E-272D-0E57-06C7-5A71E06140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270A5C88-1506-BAF9-5793-AD6E0AA2184B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376" y="457200"/>
            <a:ext cx="11612880" cy="4937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Sitio Web Profesional y Presencia Digital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47875" y="1095375"/>
            <a:ext cx="814730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Transformación Digital MPS Ayala: Desarrollo de una infraestructura web robusta y optimizada dentro del Proyecto Integral IPIDD.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874" y="2066925"/>
            <a:ext cx="3549551" cy="34290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1624" y="19716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90674" y="1990725"/>
            <a:ext cx="419100" cy="419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2524" y="21002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63975" y="2238375"/>
            <a:ext cx="381000" cy="381000"/>
          </a:xfrm>
          <a:prstGeom prst="roundRect">
            <a:avLst>
              <a:gd name="adj" fmla="val 96000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59225" y="2333625"/>
            <a:ext cx="190500" cy="190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4524" y="2495550"/>
            <a:ext cx="114300" cy="114300"/>
          </a:xfrm>
          <a:prstGeom prst="roundRect">
            <a:avLst>
              <a:gd name="adj" fmla="val 96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05470" y="2428875"/>
            <a:ext cx="217627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Plataforma Estratégica</a:t>
            </a:r>
            <a:endParaRPr lang="en-US" sz="16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12887" y="2790825"/>
            <a:ext cx="3099816" cy="202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Desarrollo de un sitio web profesional que incluye un catálogo detallado de productos, blog corporativo y estrategias de optimización SEO orgánica para garantizar la máxima visibilidad en motores de búsqueda.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14524" y="4967287"/>
            <a:ext cx="305425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524" y="5086350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5974" y="5086350"/>
            <a:ext cx="29809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DEE8FD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SEO y Catálogo Activo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321225" y="2066925"/>
            <a:ext cx="3549551" cy="34290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225975" y="19716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245025" y="1990725"/>
            <a:ext cx="419100" cy="419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06875" y="21002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2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318325" y="223837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89763" y="2333625"/>
            <a:ext cx="238125" cy="1905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68875" y="2495550"/>
            <a:ext cx="114300" cy="1143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759747" y="2428875"/>
            <a:ext cx="2331720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Conectividad Omnicanal</a:t>
            </a:r>
            <a:endParaRPr lang="en-US" sz="16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567238" y="2790825"/>
            <a:ext cx="3099816" cy="202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Integración técnica fluida con FerreBot, estableciendo un ecosistema digital donde la información fluye sin interrupciones, permitiendo una atención al cliente y gestión de consultas 24/7 de forma automatizada.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568875" y="4967287"/>
            <a:ext cx="3054251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8875" y="5086350"/>
            <a:ext cx="171450" cy="1333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78425" y="5086350"/>
            <a:ext cx="294436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Sincronización FerreBot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8175575" y="2066925"/>
            <a:ext cx="3549551" cy="342900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080325" y="19716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1" name="Image 6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099375" y="1990725"/>
            <a:ext cx="419100" cy="4191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261226" y="21002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3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1172676" y="2238375"/>
            <a:ext cx="381000" cy="3810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4" name="Image 7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267926" y="2333625"/>
            <a:ext cx="190500" cy="1905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423225" y="2495550"/>
            <a:ext cx="114300" cy="1143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613502" y="2428875"/>
            <a:ext cx="195681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Identidad Reforzada</a:t>
            </a:r>
            <a:endParaRPr lang="en-US" sz="16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8421588" y="2790825"/>
            <a:ext cx="3099816" cy="2020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Implementación de un diseño minimalista y moderno, proyectando una imagen profesional alineada estrictamente con los valores de la marca MPS Ayala para ofrecer una experiencia de usuario coherente y unificada.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8423225" y="4967287"/>
            <a:ext cx="3054251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9" name="Image 8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3225" y="5086350"/>
            <a:ext cx="114300" cy="1333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75625" y="5086350"/>
            <a:ext cx="299923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Estilo Minimalista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B247E35-0B02-2A17-8540-95305EFFB4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04B35B87-49AA-1DE5-D1AD-0D9C4376BCE8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424" y="38100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Dashboard de Control y Gestión de KPIs</a:t>
            </a:r>
            <a:endParaRPr lang="en-US" sz="31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47875" y="951458"/>
            <a:ext cx="813816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Panel de control centralizado para una toma de decisiones ágil y basada en datos. Visualización estratégica de métricas clave de rentabilidad, ventas y niveles de inventario.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07641"/>
            <a:ext cx="3267521" cy="1379041"/>
          </a:xfrm>
          <a:prstGeom prst="roundRect">
            <a:avLst>
              <a:gd name="adj" fmla="val 828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5319" y="1798141"/>
            <a:ext cx="191109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Rentabilidad Estratégica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91321" y="1798141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6571" y="1893391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7923" y="2235250"/>
            <a:ext cx="292608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Monitoreo continuo de márgenes y beneficios en tiempo real para optimizar el retorno de inversión y la salud financiera del proyecto.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177183"/>
            <a:ext cx="3267521" cy="1379041"/>
          </a:xfrm>
          <a:prstGeom prst="roundRect">
            <a:avLst>
              <a:gd name="adj" fmla="val 8288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849" y="3367683"/>
            <a:ext cx="138074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Gestión de Ventas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191321" y="3367683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7046" y="3462933"/>
            <a:ext cx="17145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7923" y="3804791"/>
            <a:ext cx="292608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Seguimiento detallado de transacciones y tendencias de mercado para ajustar la oferta comercial a la demanda real.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-1869" r="-1869"/>
          <a:stretch/>
        </p:blipFill>
        <p:spPr>
          <a:xfrm>
            <a:off x="4143821" y="2063204"/>
            <a:ext cx="3905250" cy="2095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5181" y="4273004"/>
            <a:ext cx="172821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Visualización de Datos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143375" y="4531965"/>
            <a:ext cx="3941064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Interfaz intuitiva diseñada para resaltar indicadores de éxito mediante acentos en naranja vibrante (#F97316).</a:t>
            </a:r>
            <a:endParaRPr lang="en-US" sz="975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67279" y="1607641"/>
            <a:ext cx="3267521" cy="1379041"/>
          </a:xfrm>
          <a:prstGeom prst="roundRect">
            <a:avLst>
              <a:gd name="adj" fmla="val 828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657704" y="1798141"/>
            <a:ext cx="16276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Niveles de Inventario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1201400" y="1798141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1" name="Image 3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77600" y="1893391"/>
            <a:ext cx="190500" cy="152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58002" y="2235250"/>
            <a:ext cx="292608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Control preciso del stock para reducir costos de almacenamiento y evitar roturas que afecten la continuidad operativa.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467279" y="3177183"/>
            <a:ext cx="3267521" cy="1379041"/>
          </a:xfrm>
          <a:prstGeom prst="roundRect">
            <a:avLst>
              <a:gd name="adj" fmla="val 828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655546" y="3367683"/>
            <a:ext cx="191109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Sostenibilidad Operativa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201400" y="3367683"/>
            <a:ext cx="342900" cy="3429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6" name="Image 4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296650" y="3462933"/>
            <a:ext cx="152400" cy="1524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58002" y="3804791"/>
            <a:ext cx="292608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Aseguramiento del desempeño a largo plazo mediante el análisis de indicadores clave de eficiencia en todos los procesos.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57200" y="5522714"/>
            <a:ext cx="11277600" cy="954286"/>
          </a:xfrm>
          <a:prstGeom prst="roundRect">
            <a:avLst>
              <a:gd name="adj" fmla="val 1197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9" name="Image 5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5800" y="5679877"/>
            <a:ext cx="190500" cy="1905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92237" y="5675114"/>
            <a:ext cx="25420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Indicadores de Éxito y Monitoreo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85800" y="5952232"/>
            <a:ext cx="1085392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El monitoreo continuo de desempeño asegura la sostenibilidad operativa, con alertas visuales estratégicas que permiten una respuesta rápida ante desviaciones en los KPIs establecidos.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C720E93F-D44B-0B12-2BB5-87E6BBEF5D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CA45DA1-D314-514B-6CB2-31543B965B27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376" y="38286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Cronograma de </a:t>
            </a:r>
            <a:r>
              <a:rPr lang="en-US" sz="3300" b="1" dirty="0" err="1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Implemenación</a:t>
            </a: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 (12 Semanas)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0" y="955179"/>
            <a:ext cx="7662672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Ruta crítica del proyecto IPIDD: Metodología de entrega modular para asegurar una transformación digital efectiva y con hitos tangibles.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87562"/>
            <a:ext cx="2676525" cy="3681264"/>
          </a:xfrm>
          <a:prstGeom prst="roundRect">
            <a:avLst>
              <a:gd name="adj" fmla="val 427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l="-1274" r="-1274"/>
          <a:stretch/>
        </p:blipFill>
        <p:spPr>
          <a:xfrm>
            <a:off x="666750" y="1897112"/>
            <a:ext cx="2257425" cy="1238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06228" y="2916287"/>
            <a:ext cx="660797" cy="161925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3378" y="2947690"/>
            <a:ext cx="95250" cy="95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60414" y="2944862"/>
            <a:ext cx="484632" cy="1097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Semana 1-4</a:t>
            </a:r>
            <a:endParaRPr lang="en-US" sz="78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66750" y="33940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19150" y="3251150"/>
            <a:ext cx="2148840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Fase Grafica y </a:t>
            </a:r>
            <a:r>
              <a:rPr lang="en-US" sz="1260" b="1" dirty="0" err="1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Diagnóstico</a:t>
            </a:r>
            <a:r>
              <a:rPr lang="en-US" sz="126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 de </a:t>
            </a:r>
            <a:r>
              <a:rPr lang="en-US" sz="1260" b="1" dirty="0" err="1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Procesos</a:t>
            </a:r>
            <a:endParaRPr lang="en-US" sz="126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6750" y="3710657"/>
            <a:ext cx="2295144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Desarrollo de Identidad de la </a:t>
            </a:r>
            <a:r>
              <a:rPr lang="en-US" sz="1020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marca</a:t>
            </a:r>
            <a:r>
              <a:rPr lang="en-US" sz="102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, </a:t>
            </a:r>
            <a:r>
              <a:rPr lang="en-US" sz="1020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análisis</a:t>
            </a:r>
            <a:r>
              <a:rPr lang="en-US" sz="102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profundo bajo metodología DMAIC para establecer la base estratégica del cambio.</a:t>
            </a:r>
            <a:endParaRPr lang="en-US" sz="102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66750" y="4501362"/>
            <a:ext cx="2257425" cy="381300"/>
          </a:xfrm>
          <a:prstGeom prst="roundRect">
            <a:avLst>
              <a:gd name="adj" fmla="val 19355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66750" y="4465309"/>
            <a:ext cx="2295144" cy="301752"/>
          </a:xfrm>
          <a:prstGeom prst="rect">
            <a:avLst/>
          </a:prstGeom>
          <a:noFill/>
          <a:ln/>
        </p:spPr>
        <p:txBody>
          <a:bodyPr vert="horz" wrap="square" lIns="76200" tIns="76200" rIns="76200" bIns="7620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Hito:</a:t>
            </a:r>
            <a:r>
              <a:rPr lang="en-US" sz="96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Manual de Identidad, </a:t>
            </a:r>
            <a:r>
              <a:rPr lang="en-US" sz="960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logotipo</a:t>
            </a:r>
            <a:r>
              <a:rPr lang="en-US" sz="96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, </a:t>
            </a:r>
            <a:r>
              <a:rPr lang="en-US" sz="960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variantes</a:t>
            </a:r>
            <a:r>
              <a:rPr lang="en-US" sz="96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y </a:t>
            </a:r>
            <a:r>
              <a:rPr lang="en-US" sz="960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reporte</a:t>
            </a:r>
            <a:r>
              <a:rPr lang="en-US" sz="96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de KPIs iniciales.</a:t>
            </a:r>
            <a:endParaRPr lang="en-US" sz="96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66750" y="4944963"/>
            <a:ext cx="225742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750" y="5035451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448" y="5025926"/>
            <a:ext cx="969264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Base del proyecto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324225" y="1687562"/>
            <a:ext cx="2676525" cy="3681264"/>
          </a:xfrm>
          <a:prstGeom prst="roundRect">
            <a:avLst>
              <a:gd name="adj" fmla="val 427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 l="-1274" r="-1274"/>
          <a:stretch/>
        </p:blipFill>
        <p:spPr>
          <a:xfrm>
            <a:off x="3533775" y="1897112"/>
            <a:ext cx="2257425" cy="1238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07161" y="2916287"/>
            <a:ext cx="826889" cy="161925"/>
          </a:xfrm>
          <a:prstGeom prst="roundRect">
            <a:avLst>
              <a:gd name="adj" fmla="val 23529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1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64311" y="2947690"/>
            <a:ext cx="123825" cy="952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87243" y="2944862"/>
            <a:ext cx="630936" cy="1097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Semanas 5-7</a:t>
            </a:r>
            <a:endParaRPr lang="en-US" sz="78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3533775" y="33940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3686175" y="3251150"/>
            <a:ext cx="2148840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26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Desarrollo Core y Automatización</a:t>
            </a:r>
            <a:endParaRPr lang="en-US" sz="126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3533775" y="3710657"/>
            <a:ext cx="2295144" cy="5852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Implementación de módulos de Inventarios/Ventas y desarrollo del asistente FerreBotIA.</a:t>
            </a:r>
            <a:endParaRPr lang="en-US" sz="102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3533775" y="4387751"/>
            <a:ext cx="2257425" cy="438150"/>
          </a:xfrm>
          <a:prstGeom prst="roundRect">
            <a:avLst>
              <a:gd name="adj" fmla="val 13043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533775" y="4387751"/>
            <a:ext cx="2295144" cy="438912"/>
          </a:xfrm>
          <a:prstGeom prst="rect">
            <a:avLst/>
          </a:prstGeom>
          <a:noFill/>
          <a:ln/>
        </p:spPr>
        <p:txBody>
          <a:bodyPr vert="horz" wrap="square" lIns="76200" tIns="76200" rIns="76200" bIns="7620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Hito:</a:t>
            </a:r>
            <a:r>
              <a:rPr lang="en-US" sz="96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Módulos funcionales y Asistente operativo.</a:t>
            </a:r>
            <a:endParaRPr lang="en-US" sz="96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3533775" y="4944963"/>
            <a:ext cx="2257425" cy="0"/>
          </a:xfrm>
          <a:prstGeom prst="line">
            <a:avLst/>
          </a:prstGeom>
          <a:noFill/>
          <a:ln w="9525">
            <a:solidFill>
              <a:schemeClr val="bg2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9" name="Image 5" descr="image.png"/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533775" y="5035451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88110" y="5025926"/>
            <a:ext cx="1014984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Núcleo tecnológico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191250" y="1687562"/>
            <a:ext cx="2676525" cy="3681264"/>
          </a:xfrm>
          <a:prstGeom prst="roundRect">
            <a:avLst>
              <a:gd name="adj" fmla="val 427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2" name="Image 6" descr="image.png"/>
          <p:cNvPicPr>
            <a:picLocks noChangeAspect="1"/>
          </p:cNvPicPr>
          <p:nvPr/>
        </p:nvPicPr>
        <p:blipFill>
          <a:blip r:embed="rId9"/>
          <a:srcRect l="-1274" r="-1274"/>
          <a:stretch/>
        </p:blipFill>
        <p:spPr>
          <a:xfrm>
            <a:off x="6400800" y="1897112"/>
            <a:ext cx="2257425" cy="12382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02761" y="2916287"/>
            <a:ext cx="798314" cy="161925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4" name="Image 7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59911" y="2947690"/>
            <a:ext cx="95250" cy="952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954268" y="2944862"/>
            <a:ext cx="630936" cy="1097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Semanas 7-9</a:t>
            </a:r>
            <a:endParaRPr lang="en-US" sz="78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6400800" y="3298031"/>
            <a:ext cx="95250" cy="95250"/>
          </a:xfrm>
          <a:prstGeom prst="roundRect">
            <a:avLst>
              <a:gd name="adj" fmla="val 960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6554986" y="3250406"/>
            <a:ext cx="17373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Expansión e Integración</a:t>
            </a:r>
            <a:endParaRPr lang="en-US" sz="126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6400800" y="3519413"/>
            <a:ext cx="229514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Lanzamiento del Sitio Web Profesional integrado con los sistemas de gestión centralizados.</a:t>
            </a:r>
            <a:endParaRPr lang="en-US" sz="102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6400800" y="4387751"/>
            <a:ext cx="2257425" cy="438150"/>
          </a:xfrm>
          <a:prstGeom prst="roundRect">
            <a:avLst>
              <a:gd name="adj" fmla="val 1304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6400800" y="4387751"/>
            <a:ext cx="2295144" cy="438912"/>
          </a:xfrm>
          <a:prstGeom prst="rect">
            <a:avLst/>
          </a:prstGeom>
          <a:noFill/>
          <a:ln/>
        </p:spPr>
        <p:txBody>
          <a:bodyPr vert="horz" wrap="square" lIns="76200" tIns="76200" rIns="76200" bIns="7620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Hito:</a:t>
            </a:r>
            <a:r>
              <a:rPr lang="en-US" sz="96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Integración completa del Sitio Web.</a:t>
            </a:r>
            <a:endParaRPr lang="en-US" sz="96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6400800" y="4944963"/>
            <a:ext cx="225742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2" name="Image 8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00800" y="5035451"/>
            <a:ext cx="142875" cy="1143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582073" y="5025926"/>
            <a:ext cx="88696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Presencia digital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9058275" y="1687562"/>
            <a:ext cx="2676525" cy="3681264"/>
          </a:xfrm>
          <a:prstGeom prst="roundRect">
            <a:avLst>
              <a:gd name="adj" fmla="val 427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9267825" y="1897112"/>
            <a:ext cx="2257425" cy="1238250"/>
          </a:xfrm>
          <a:prstGeom prst="roundRect">
            <a:avLst>
              <a:gd name="adj" fmla="val 6154"/>
            </a:avLst>
          </a:prstGeom>
          <a:solidFill>
            <a:srgbClr val="000000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6" name="Image 9" descr="image.png"/>
          <p:cNvPicPr>
            <a:picLocks noChangeAspect="1"/>
          </p:cNvPicPr>
          <p:nvPr/>
        </p:nvPicPr>
        <p:blipFill>
          <a:blip r:embed="rId12"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encilGrayscale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91738" y="2211437"/>
            <a:ext cx="609600" cy="6096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0778728" y="2916287"/>
            <a:ext cx="761762" cy="161925"/>
          </a:xfrm>
          <a:prstGeom prst="roundRect">
            <a:avLst>
              <a:gd name="adj" fmla="val 23529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8" name="Image 10" descr="image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835878" y="2947690"/>
            <a:ext cx="123825" cy="9525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0961489" y="2944862"/>
            <a:ext cx="484632" cy="1097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Semana 10-11</a:t>
            </a:r>
            <a:endParaRPr lang="en-US" sz="78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0" name="Text 37"/>
          <p:cNvSpPr/>
          <p:nvPr/>
        </p:nvSpPr>
        <p:spPr>
          <a:xfrm>
            <a:off x="9267825" y="3298031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1" name="Text 38"/>
          <p:cNvSpPr/>
          <p:nvPr/>
        </p:nvSpPr>
        <p:spPr>
          <a:xfrm>
            <a:off x="9420746" y="3250406"/>
            <a:ext cx="20391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26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Lanzamiento y Capacitación</a:t>
            </a:r>
            <a:endParaRPr lang="en-US" sz="126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2" name="Text 39"/>
          <p:cNvSpPr/>
          <p:nvPr/>
        </p:nvSpPr>
        <p:spPr>
          <a:xfrm>
            <a:off x="9267825" y="3519413"/>
            <a:ext cx="229514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Activación de Dashboard de KPIs y capacitación final del equipo en las nuevas herramientas.</a:t>
            </a:r>
            <a:endParaRPr lang="en-US" sz="102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9267825" y="4387751"/>
            <a:ext cx="2257425" cy="438150"/>
          </a:xfrm>
          <a:prstGeom prst="roundRect">
            <a:avLst>
              <a:gd name="adj" fmla="val 13043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4" name="Text 41"/>
          <p:cNvSpPr/>
          <p:nvPr/>
        </p:nvSpPr>
        <p:spPr>
          <a:xfrm>
            <a:off x="9267825" y="4387751"/>
            <a:ext cx="2295144" cy="438912"/>
          </a:xfrm>
          <a:prstGeom prst="rect">
            <a:avLst/>
          </a:prstGeom>
          <a:noFill/>
          <a:ln/>
        </p:spPr>
        <p:txBody>
          <a:bodyPr vert="horz" wrap="square" lIns="76200" tIns="76200" rIns="76200" bIns="7620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Hito:</a:t>
            </a:r>
            <a:r>
              <a:rPr lang="en-US" sz="96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Panel activo y manuales técnicos.</a:t>
            </a:r>
            <a:endParaRPr lang="en-US" sz="96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5" name="Shape 42"/>
          <p:cNvSpPr/>
          <p:nvPr/>
        </p:nvSpPr>
        <p:spPr>
          <a:xfrm>
            <a:off x="9267825" y="4944963"/>
            <a:ext cx="2257425" cy="0"/>
          </a:xfrm>
          <a:prstGeom prst="line">
            <a:avLst/>
          </a:prstGeom>
          <a:noFill/>
          <a:ln w="9525">
            <a:solidFill>
              <a:schemeClr val="bg2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56" name="Image 11" descr="image.png"/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67825" y="5035451"/>
            <a:ext cx="142875" cy="11430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9450660" y="5025926"/>
            <a:ext cx="68580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Entrega final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8" name="Text 44"/>
          <p:cNvSpPr/>
          <p:nvPr/>
        </p:nvSpPr>
        <p:spPr>
          <a:xfrm>
            <a:off x="364236" y="6401988"/>
            <a:ext cx="1153972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1020" i="1" dirty="0">
                <a:solidFill>
                  <a:srgbClr val="6B7280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Esta metodología garantiza progresos tangibles semanales y una transición fluida al nuevo ecosistema digital.</a:t>
            </a:r>
            <a:endParaRPr lang="en-US" sz="102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9" name="Text 45"/>
          <p:cNvSpPr/>
          <p:nvPr/>
        </p:nvSpPr>
        <p:spPr>
          <a:xfrm>
            <a:off x="381000" y="1611362"/>
            <a:ext cx="381000" cy="3810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0" name="Text 46"/>
          <p:cNvSpPr/>
          <p:nvPr/>
        </p:nvSpPr>
        <p:spPr>
          <a:xfrm>
            <a:off x="528638" y="1716137"/>
            <a:ext cx="1280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1" name="Text 47"/>
          <p:cNvSpPr/>
          <p:nvPr/>
        </p:nvSpPr>
        <p:spPr>
          <a:xfrm>
            <a:off x="3248025" y="1611362"/>
            <a:ext cx="381000" cy="3810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2" name="Text 48"/>
          <p:cNvSpPr/>
          <p:nvPr/>
        </p:nvSpPr>
        <p:spPr>
          <a:xfrm>
            <a:off x="3395663" y="1716137"/>
            <a:ext cx="1280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2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3" name="Text 49"/>
          <p:cNvSpPr/>
          <p:nvPr/>
        </p:nvSpPr>
        <p:spPr>
          <a:xfrm>
            <a:off x="6115050" y="1611362"/>
            <a:ext cx="381000" cy="3810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4" name="Text 50"/>
          <p:cNvSpPr/>
          <p:nvPr/>
        </p:nvSpPr>
        <p:spPr>
          <a:xfrm>
            <a:off x="6262688" y="1716137"/>
            <a:ext cx="1280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3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5" name="Text 51"/>
          <p:cNvSpPr/>
          <p:nvPr/>
        </p:nvSpPr>
        <p:spPr>
          <a:xfrm>
            <a:off x="8982075" y="1611362"/>
            <a:ext cx="381000" cy="3810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6" name="Text 52"/>
          <p:cNvSpPr/>
          <p:nvPr/>
        </p:nvSpPr>
        <p:spPr>
          <a:xfrm>
            <a:off x="9129713" y="1716137"/>
            <a:ext cx="1280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4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67" name="Image 12" descr="image.png"/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00050" y="1630412"/>
            <a:ext cx="342900" cy="342900"/>
          </a:xfrm>
          <a:prstGeom prst="rect">
            <a:avLst/>
          </a:prstGeom>
        </p:spPr>
      </p:pic>
      <p:pic>
        <p:nvPicPr>
          <p:cNvPr id="68" name="Image 13" descr="image.png"/>
          <p:cNvPicPr>
            <a:picLocks noChangeAspect="1"/>
          </p:cNvPicPr>
          <p:nvPr/>
        </p:nvPicPr>
        <p:blipFill>
          <a:blip r:embed="rId17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267075" y="1630412"/>
            <a:ext cx="342900" cy="342900"/>
          </a:xfrm>
          <a:prstGeom prst="rect">
            <a:avLst/>
          </a:prstGeom>
        </p:spPr>
      </p:pic>
      <p:pic>
        <p:nvPicPr>
          <p:cNvPr id="69" name="Image 14" descr="image.png"/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134100" y="1630412"/>
            <a:ext cx="342900" cy="342900"/>
          </a:xfrm>
          <a:prstGeom prst="rect">
            <a:avLst/>
          </a:prstGeom>
        </p:spPr>
      </p:pic>
      <p:pic>
        <p:nvPicPr>
          <p:cNvPr id="70" name="Image 15" descr="image.png"/>
          <p:cNvPicPr>
            <a:picLocks noChangeAspect="1"/>
          </p:cNvPicPr>
          <p:nvPr/>
        </p:nvPicPr>
        <p:blipFill>
          <a:blip r:embed="rId17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001125" y="1630412"/>
            <a:ext cx="342900" cy="342900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B98CB1D7-DE07-DFA7-C966-04FEF6A461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  <p:sp>
        <p:nvSpPr>
          <p:cNvPr id="79" name="Text 29">
            <a:extLst>
              <a:ext uri="{FF2B5EF4-FFF2-40B4-BE49-F238E27FC236}">
                <a16:creationId xmlns:a16="http://schemas.microsoft.com/office/drawing/2014/main" id="{A12DBC16-7AEE-52CE-76E1-78F1424E90C1}"/>
              </a:ext>
            </a:extLst>
          </p:cNvPr>
          <p:cNvSpPr/>
          <p:nvPr/>
        </p:nvSpPr>
        <p:spPr>
          <a:xfrm>
            <a:off x="2462212" y="5696749"/>
            <a:ext cx="7316270" cy="438150"/>
          </a:xfrm>
          <a:prstGeom prst="roundRect">
            <a:avLst>
              <a:gd name="adj" fmla="val 1304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D47E148F-8208-022B-5163-79B6F11D77F5}"/>
              </a:ext>
            </a:extLst>
          </p:cNvPr>
          <p:cNvSpPr/>
          <p:nvPr/>
        </p:nvSpPr>
        <p:spPr>
          <a:xfrm>
            <a:off x="2612057" y="5851473"/>
            <a:ext cx="761762" cy="161925"/>
          </a:xfrm>
          <a:prstGeom prst="roundRect">
            <a:avLst>
              <a:gd name="adj" fmla="val 23529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1" name="Image 10" descr="image.png">
            <a:extLst>
              <a:ext uri="{FF2B5EF4-FFF2-40B4-BE49-F238E27FC236}">
                <a16:creationId xmlns:a16="http://schemas.microsoft.com/office/drawing/2014/main" id="{ED55D9DA-62BC-63D4-8B18-F02000F60BD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69207" y="5882876"/>
            <a:ext cx="123825" cy="95250"/>
          </a:xfrm>
          <a:prstGeom prst="rect">
            <a:avLst/>
          </a:prstGeom>
        </p:spPr>
      </p:pic>
      <p:sp>
        <p:nvSpPr>
          <p:cNvPr id="82" name="Text 36">
            <a:extLst>
              <a:ext uri="{FF2B5EF4-FFF2-40B4-BE49-F238E27FC236}">
                <a16:creationId xmlns:a16="http://schemas.microsoft.com/office/drawing/2014/main" id="{5050644A-45EC-53FB-CCAF-126A0B1C86DD}"/>
              </a:ext>
            </a:extLst>
          </p:cNvPr>
          <p:cNvSpPr/>
          <p:nvPr/>
        </p:nvSpPr>
        <p:spPr>
          <a:xfrm>
            <a:off x="2794818" y="5880048"/>
            <a:ext cx="484632" cy="1097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Semana 12</a:t>
            </a:r>
            <a:endParaRPr lang="en-US" sz="78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E1F1AE09-9A50-58E7-46F7-AFAA30D63D55}"/>
              </a:ext>
            </a:extLst>
          </p:cNvPr>
          <p:cNvSpPr/>
          <p:nvPr/>
        </p:nvSpPr>
        <p:spPr>
          <a:xfrm>
            <a:off x="3480181" y="5789555"/>
            <a:ext cx="7026088" cy="438912"/>
          </a:xfrm>
          <a:prstGeom prst="rect">
            <a:avLst/>
          </a:prstGeom>
          <a:noFill/>
          <a:ln/>
        </p:spPr>
        <p:txBody>
          <a:bodyPr vert="horz" wrap="square" lIns="76200" tIns="76200" rIns="76200" bIns="76200" rtlCol="0" anchor="t"/>
          <a:lstStyle/>
          <a:p>
            <a:pPr>
              <a:lnSpc>
                <a:spcPts val="1152"/>
              </a:lnSpc>
            </a:pPr>
            <a:r>
              <a:rPr lang="en-US" sz="12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Cierre y </a:t>
            </a:r>
            <a:r>
              <a:rPr lang="en-US" sz="1200" b="1" dirty="0" err="1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Periodo</a:t>
            </a:r>
            <a:r>
              <a:rPr lang="en-US" sz="12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de Gracia     </a:t>
            </a: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Hito:</a:t>
            </a:r>
            <a:r>
              <a:rPr lang="en-US" sz="120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s-MX" sz="900" dirty="0">
                <a:solidFill>
                  <a:schemeClr val="bg2"/>
                </a:solidFill>
              </a:rPr>
              <a:t>transferencia de conocimiento técnica bajo la metodología de capacitación TWI.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A2113-D95E-60DD-EDE2-F0B5E0BB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9BC9AA-3309-DDCE-4FF7-5E66C9A30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A30BDE90-F2CD-674A-A205-2F3CCD8BDBAD}"/>
              </a:ext>
            </a:extLst>
          </p:cNvPr>
          <p:cNvSpPr/>
          <p:nvPr/>
        </p:nvSpPr>
        <p:spPr>
          <a:xfrm>
            <a:off x="7278" y="-762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F6C0CD-9B72-0BD5-57AE-8ACE97983166}"/>
              </a:ext>
            </a:extLst>
          </p:cNvPr>
          <p:cNvSpPr/>
          <p:nvPr/>
        </p:nvSpPr>
        <p:spPr>
          <a:xfrm>
            <a:off x="343376" y="38286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Horas </a:t>
            </a:r>
            <a:r>
              <a:rPr lang="en-US" sz="3300" b="1" dirty="0" err="1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aplicadas</a:t>
            </a: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durante</a:t>
            </a: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 el Proyecto (12 Semanas)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2D3BAA-B6FA-8D91-ED2D-A6CAF12A5D64}"/>
              </a:ext>
            </a:extLst>
          </p:cNvPr>
          <p:cNvSpPr/>
          <p:nvPr/>
        </p:nvSpPr>
        <p:spPr>
          <a:xfrm>
            <a:off x="2286000" y="955179"/>
            <a:ext cx="7662672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Horas </a:t>
            </a:r>
            <a:r>
              <a:rPr lang="es-MX" sz="1200" noProof="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estimadas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del proyecto IPIDD: Tiempo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programado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que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asegura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el la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entrega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Hitos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del Proyecto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tiempo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y forma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según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n-US" sz="120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nuestro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cronograma</a:t>
            </a: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FFA2B-1EA5-1614-FABD-915D53986119}"/>
              </a:ext>
            </a:extLst>
          </p:cNvPr>
          <p:cNvSpPr/>
          <p:nvPr/>
        </p:nvSpPr>
        <p:spPr>
          <a:xfrm>
            <a:off x="457200" y="1642709"/>
            <a:ext cx="11446764" cy="4323277"/>
          </a:xfrm>
          <a:prstGeom prst="roundRect">
            <a:avLst>
              <a:gd name="adj" fmla="val 427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1C6FE9C-971B-7369-D21B-3C5A3306ABF3}"/>
              </a:ext>
            </a:extLst>
          </p:cNvPr>
          <p:cNvSpPr/>
          <p:nvPr/>
        </p:nvSpPr>
        <p:spPr>
          <a:xfrm>
            <a:off x="666750" y="399118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9081A8D-6DED-5E1B-4A0C-06872276F995}"/>
              </a:ext>
            </a:extLst>
          </p:cNvPr>
          <p:cNvSpPr/>
          <p:nvPr/>
        </p:nvSpPr>
        <p:spPr>
          <a:xfrm>
            <a:off x="694742" y="4678737"/>
            <a:ext cx="6368533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s-MX" sz="1600" b="1" cap="all" dirty="0">
                <a:solidFill>
                  <a:schemeClr val="bg2"/>
                </a:solidFill>
              </a:rPr>
              <a:t>Métrica de Esfuerzo: Horas Físicas vs. Horas Aplicadas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DAF607D-9E25-671B-AE5F-F59C000BB925}"/>
              </a:ext>
            </a:extLst>
          </p:cNvPr>
          <p:cNvSpPr/>
          <p:nvPr/>
        </p:nvSpPr>
        <p:spPr>
          <a:xfrm>
            <a:off x="666749" y="4942302"/>
            <a:ext cx="10987185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30"/>
              </a:lnSpc>
            </a:pPr>
            <a:r>
              <a:rPr lang="es-MX" sz="1200" dirty="0">
                <a:solidFill>
                  <a:schemeClr val="bg2"/>
                </a:solidFill>
                <a:latin typeface="Quire Sans" panose="020B0502040204020203" pitchFamily="34" charset="0"/>
                <a:cs typeface="Quire Sans" panose="020B0502040204020203" pitchFamily="34" charset="0"/>
              </a:rPr>
              <a:t>Con el objetivo de transparentar el proceso de ejecución tecnológica, se establece la distinción entre </a:t>
            </a:r>
            <a:r>
              <a:rPr lang="es-MX" sz="1200" b="1" dirty="0">
                <a:solidFill>
                  <a:schemeClr val="bg2"/>
                </a:solidFill>
                <a:latin typeface="Quire Sans" panose="020B0502040204020203" pitchFamily="34" charset="0"/>
                <a:cs typeface="Quire Sans" panose="020B0502040204020203" pitchFamily="34" charset="0"/>
              </a:rPr>
              <a:t>Horas Físicas (HF)</a:t>
            </a:r>
            <a:r>
              <a:rPr lang="es-MX" sz="1200" dirty="0">
                <a:solidFill>
                  <a:schemeClr val="bg2"/>
                </a:solidFill>
                <a:latin typeface="Quire Sans" panose="020B0502040204020203" pitchFamily="34" charset="0"/>
                <a:cs typeface="Quire Sans" panose="020B0502040204020203" pitchFamily="34" charset="0"/>
              </a:rPr>
              <a:t>, referidas al tiempo real invertido de diseño, consultoría en sitio y codificación directa, y las </a:t>
            </a:r>
            <a:r>
              <a:rPr lang="es-MX" sz="1200" b="1" dirty="0">
                <a:solidFill>
                  <a:schemeClr val="bg2"/>
                </a:solidFill>
                <a:latin typeface="Quire Sans" panose="020B0502040204020203" pitchFamily="34" charset="0"/>
                <a:cs typeface="Quire Sans" panose="020B0502040204020203" pitchFamily="34" charset="0"/>
              </a:rPr>
              <a:t>Horas Aplicadas (HA)</a:t>
            </a:r>
            <a:r>
              <a:rPr lang="es-MX" sz="1200" dirty="0">
                <a:solidFill>
                  <a:schemeClr val="bg2"/>
                </a:solidFill>
                <a:latin typeface="Quire Sans" panose="020B0502040204020203" pitchFamily="34" charset="0"/>
                <a:cs typeface="Quire Sans" panose="020B0502040204020203" pitchFamily="34" charset="0"/>
              </a:rPr>
              <a:t>, correspondientes al rendimiento total apalancado mediante aceleradores lógicos y automatizaciones de IA.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82387F2-9E32-75D0-F379-47998AABA185}"/>
              </a:ext>
            </a:extLst>
          </p:cNvPr>
          <p:cNvSpPr/>
          <p:nvPr/>
        </p:nvSpPr>
        <p:spPr>
          <a:xfrm>
            <a:off x="666750" y="5542123"/>
            <a:ext cx="10753919" cy="262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EF0016D-BF38-4F83-2717-0D4548ADFF8A}"/>
              </a:ext>
            </a:extLst>
          </p:cNvPr>
          <p:cNvSpPr/>
          <p:nvPr/>
        </p:nvSpPr>
        <p:spPr>
          <a:xfrm>
            <a:off x="819448" y="5623086"/>
            <a:ext cx="969264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Horas </a:t>
            </a:r>
            <a:r>
              <a:rPr lang="en-US" sz="900" dirty="0" err="1">
                <a:solidFill>
                  <a:srgbClr val="FFFFFF">
                    <a:alpha val="8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aplicadas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totals al Proyecto.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9FBD003F-BB66-F3FD-5E84-04C2B3930CA8}"/>
              </a:ext>
            </a:extLst>
          </p:cNvPr>
          <p:cNvSpPr/>
          <p:nvPr/>
        </p:nvSpPr>
        <p:spPr>
          <a:xfrm>
            <a:off x="364236" y="6401988"/>
            <a:ext cx="1153972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1020" i="1" dirty="0">
                <a:solidFill>
                  <a:srgbClr val="6B7280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Esta metodología garantiza progresos tangibles semanales y una transición fluida al nuevo ecosistema digital.</a:t>
            </a:r>
            <a:endParaRPr lang="en-US" sz="102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0" name="Text 46">
            <a:extLst>
              <a:ext uri="{FF2B5EF4-FFF2-40B4-BE49-F238E27FC236}">
                <a16:creationId xmlns:a16="http://schemas.microsoft.com/office/drawing/2014/main" id="{74353910-A6DD-9822-DEA6-26F34FD85CC3}"/>
              </a:ext>
            </a:extLst>
          </p:cNvPr>
          <p:cNvSpPr/>
          <p:nvPr/>
        </p:nvSpPr>
        <p:spPr>
          <a:xfrm>
            <a:off x="528638" y="2313297"/>
            <a:ext cx="1280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440"/>
              </a:lnSpc>
              <a:buNone/>
            </a:pP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67" name="Image 12" descr="image.png">
            <a:extLst>
              <a:ext uri="{FF2B5EF4-FFF2-40B4-BE49-F238E27FC236}">
                <a16:creationId xmlns:a16="http://schemas.microsoft.com/office/drawing/2014/main" id="{1A830166-71F1-51D9-F873-51D98BD2BE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00050" y="1537104"/>
            <a:ext cx="342900" cy="342900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29E79BA7-57FA-ECF3-D43D-D86486941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487E8776-F544-393E-64AE-1768AC047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86" y="1971785"/>
            <a:ext cx="10987185" cy="256165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101149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E171FE86-1303-27EF-1A70-FED5E87B1E21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424" y="381000"/>
            <a:ext cx="1161288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Estructura de Inversión y Paquetes</a:t>
            </a:r>
            <a:endParaRPr lang="en-US" sz="315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09419" y="914400"/>
            <a:ext cx="781812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Transformación Digital MPS Ayala: Proyecto Integral IPIDD para la optimización operativa y comercial.</a:t>
            </a:r>
            <a:endParaRPr lang="en-US" sz="12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14450"/>
            <a:ext cx="3530798" cy="2406056"/>
          </a:xfrm>
          <a:prstGeom prst="roundRect">
            <a:avLst>
              <a:gd name="adj" fmla="val 55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5840" y="1504950"/>
            <a:ext cx="1179576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Opción Inicial</a:t>
            </a:r>
            <a:endParaRPr lang="en-US" sz="1425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54598" y="1504950"/>
            <a:ext cx="342900" cy="3429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9848" y="160020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6212" y="1995312"/>
            <a:ext cx="3191256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 err="1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Enfoque</a:t>
            </a: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</a:t>
            </a:r>
            <a:r>
              <a:rPr lang="en-US" sz="1013" dirty="0" err="1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en</a:t>
            </a: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</a:t>
            </a:r>
            <a:r>
              <a:rPr lang="en-US" sz="1013" dirty="0" err="1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diseño</a:t>
            </a: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e </a:t>
            </a:r>
            <a:r>
              <a:rPr lang="en-US" sz="1013" dirty="0" err="1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identidad</a:t>
            </a: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de visual (branding), </a:t>
            </a:r>
            <a:r>
              <a:rPr lang="en-US" sz="1013" dirty="0" err="1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digitalización</a:t>
            </a: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operativa base: Diagnóstico, control de inventarios y sistema de ventas. Ideal para estabilizar procesos internos.</a:t>
            </a:r>
            <a:endParaRPr lang="en-US" sz="1013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212" y="2917193"/>
            <a:ext cx="326440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$27,600 MXN</a:t>
            </a:r>
            <a:endParaRPr lang="en-US" sz="135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700" y="3247192"/>
            <a:ext cx="933599" cy="285750"/>
          </a:xfrm>
          <a:prstGeom prst="roundRect">
            <a:avLst>
              <a:gd name="adj" fmla="val 2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1124" y="3332917"/>
            <a:ext cx="713232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7 SEMANAS</a:t>
            </a:r>
            <a:endParaRPr lang="en-US" sz="9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4100364"/>
            <a:ext cx="3530798" cy="2073325"/>
          </a:xfrm>
          <a:prstGeom prst="roundRect">
            <a:avLst>
              <a:gd name="adj" fmla="val 551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7849" y="4290864"/>
            <a:ext cx="1435608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Opción Completa</a:t>
            </a:r>
            <a:endParaRPr lang="en-US" sz="1425" dirty="0">
              <a:solidFill>
                <a:schemeClr val="bg2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54598" y="4290864"/>
            <a:ext cx="342900" cy="3429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16" name="Image 1" descr="image.png"/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3540323" y="4386114"/>
            <a:ext cx="171450" cy="152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6212" y="4746501"/>
            <a:ext cx="3191256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Transformación digital integral: Incluye Sitio Web profesional, FerreBot para atención automática y Dashboard de analítica avanzada.</a:t>
            </a:r>
          </a:p>
        </p:txBody>
      </p:sp>
      <p:sp>
        <p:nvSpPr>
          <p:cNvPr id="18" name="Text 14"/>
          <p:cNvSpPr/>
          <p:nvPr/>
        </p:nvSpPr>
        <p:spPr>
          <a:xfrm>
            <a:off x="646212" y="5402163"/>
            <a:ext cx="326440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$22,000 MXN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47700" y="5697438"/>
            <a:ext cx="933599" cy="285750"/>
          </a:xfrm>
          <a:prstGeom prst="roundRect">
            <a:avLst>
              <a:gd name="adj" fmla="val 2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81124" y="5783163"/>
            <a:ext cx="713232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12 SEMANAS</a:t>
            </a:r>
            <a:endParaRPr lang="en-US" sz="9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216598" y="1314450"/>
            <a:ext cx="3758803" cy="5162550"/>
          </a:xfrm>
          <a:prstGeom prst="roundRect">
            <a:avLst>
              <a:gd name="adj" fmla="val 3041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619750" y="2073622"/>
            <a:ext cx="952500" cy="9525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23" name="Image 2" descr="image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5500" y="2397472"/>
            <a:ext cx="381000" cy="304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62836" y="3178522"/>
            <a:ext cx="19202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Términos Comerciales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405313" y="3472755"/>
            <a:ext cx="3419856" cy="365760"/>
          </a:xfrm>
          <a:prstGeom prst="rect">
            <a:avLst/>
          </a:prstGeom>
          <a:noFill/>
          <a:ln/>
        </p:spPr>
        <p:txBody>
          <a:bodyPr vert="horz" wrap="square" lIns="95250" tIns="0" rIns="95250" bIns="0" rtlCol="0" anchor="t"/>
          <a:lstStyle/>
          <a:p>
            <a:pPr marL="0" indent="0" algn="ctr">
              <a:lnSpc>
                <a:spcPts val="1418"/>
              </a:lnSpc>
              <a:buNone/>
            </a:pP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Esquema de pagos y condiciones de entrega garantizando transparencia y soporte continuo.</a:t>
            </a:r>
          </a:p>
        </p:txBody>
      </p:sp>
      <p:sp>
        <p:nvSpPr>
          <p:cNvPr id="26" name="Text 21"/>
          <p:cNvSpPr/>
          <p:nvPr/>
        </p:nvSpPr>
        <p:spPr>
          <a:xfrm>
            <a:off x="4767263" y="4100364"/>
            <a:ext cx="809625" cy="809625"/>
          </a:xfrm>
          <a:prstGeom prst="roundRect">
            <a:avLst>
              <a:gd name="adj" fmla="val 9412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27" name="Image 3" descr="image.png"/>
          <p:cNvPicPr>
            <a:picLocks noChangeAspect="1"/>
          </p:cNvPicPr>
          <p:nvPr/>
        </p:nvPicPr>
        <p:blipFill>
          <a:blip r:embed="rId7">
            <a:biLevel thresh="75000"/>
          </a:blip>
          <a:srcRect/>
          <a:stretch/>
        </p:blipFill>
        <p:spPr>
          <a:xfrm>
            <a:off x="5086350" y="4286101"/>
            <a:ext cx="171450" cy="1714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91188" y="4100364"/>
            <a:ext cx="809625" cy="809625"/>
          </a:xfrm>
          <a:prstGeom prst="roundRect">
            <a:avLst>
              <a:gd name="adj" fmla="val 9412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30" name="Image 5" descr="image.png"/>
          <p:cNvPicPr>
            <a:picLocks noChangeAspect="1"/>
          </p:cNvPicPr>
          <p:nvPr/>
        </p:nvPicPr>
        <p:blipFill>
          <a:blip r:embed="rId8">
            <a:biLevel thresh="75000"/>
          </a:blip>
          <a:srcRect/>
          <a:stretch/>
        </p:blipFill>
        <p:spPr>
          <a:xfrm>
            <a:off x="6019800" y="4286101"/>
            <a:ext cx="152400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15113" y="4100364"/>
            <a:ext cx="809625" cy="809625"/>
          </a:xfrm>
          <a:prstGeom prst="roundRect">
            <a:avLst>
              <a:gd name="adj" fmla="val 9412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33" name="Image 7" descr="image.png"/>
          <p:cNvPicPr>
            <a:picLocks noChangeAspect="1"/>
          </p:cNvPicPr>
          <p:nvPr/>
        </p:nvPicPr>
        <p:blipFill>
          <a:blip r:embed="rId9">
            <a:biLevel thresh="75000"/>
          </a:blip>
          <a:srcRect/>
          <a:stretch/>
        </p:blipFill>
        <p:spPr>
          <a:xfrm>
            <a:off x="6934200" y="4286101"/>
            <a:ext cx="171450" cy="1714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594595" y="5061421"/>
            <a:ext cx="30358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Modificaciones fuera del alcance se cotizan por separado.</a:t>
            </a:r>
          </a:p>
        </p:txBody>
      </p:sp>
      <p:sp>
        <p:nvSpPr>
          <p:cNvPr id="36" name="Text 25"/>
          <p:cNvSpPr/>
          <p:nvPr/>
        </p:nvSpPr>
        <p:spPr>
          <a:xfrm>
            <a:off x="5267176" y="5431929"/>
            <a:ext cx="1657499" cy="285750"/>
          </a:xfrm>
          <a:prstGeom prst="roundRect">
            <a:avLst>
              <a:gd name="adj" fmla="val 2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5400601" y="5517654"/>
            <a:ext cx="1453896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POLÍTICA DE PROYECTO</a:t>
            </a:r>
            <a:endParaRPr lang="en-US" sz="9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8204002" y="1552084"/>
            <a:ext cx="3530798" cy="2073325"/>
          </a:xfrm>
          <a:prstGeom prst="roundRect">
            <a:avLst>
              <a:gd name="adj" fmla="val 551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8393460" y="1742584"/>
            <a:ext cx="1517904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Opción Progresiva</a:t>
            </a:r>
            <a:endParaRPr lang="en-US" sz="1425" dirty="0">
              <a:solidFill>
                <a:schemeClr val="bg2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11201400" y="1742584"/>
            <a:ext cx="342900" cy="3429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41" name="Image 9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296650" y="1837834"/>
            <a:ext cx="152400" cy="1524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393013" y="2198221"/>
            <a:ext cx="3191256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Desarrollo modular flexible por fases. Avance gradual según prioridades del negocio con pagos semanales </a:t>
            </a:r>
            <a:r>
              <a:rPr lang="en-US" sz="1013" dirty="0" err="1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fijos</a:t>
            </a: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. </a:t>
            </a:r>
            <a:r>
              <a:rPr lang="en-US" sz="1013" dirty="0" err="1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Incremento</a:t>
            </a: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de un 4% el </a:t>
            </a:r>
            <a:r>
              <a:rPr lang="en-US" sz="1013" dirty="0" err="1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costo</a:t>
            </a:r>
            <a:r>
              <a:rPr lang="en-US" sz="1013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total</a:t>
            </a:r>
          </a:p>
        </p:txBody>
      </p:sp>
      <p:sp>
        <p:nvSpPr>
          <p:cNvPr id="43" name="Text 31"/>
          <p:cNvSpPr/>
          <p:nvPr/>
        </p:nvSpPr>
        <p:spPr>
          <a:xfrm>
            <a:off x="8355689" y="2844553"/>
            <a:ext cx="326440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$10,000 MXN  </a:t>
            </a:r>
            <a:r>
              <a:rPr lang="en-US" sz="1350" b="1" dirty="0" err="1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Anticipo</a:t>
            </a:r>
            <a:r>
              <a:rPr lang="en-US" sz="1350" b="1" dirty="0">
                <a:solidFill>
                  <a:schemeClr val="bg2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 + $3,500 MXN / Sem</a:t>
            </a:r>
            <a:endParaRPr lang="en-US" sz="1350" dirty="0">
              <a:solidFill>
                <a:schemeClr val="bg2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4" name="Text 32"/>
          <p:cNvSpPr/>
          <p:nvPr/>
        </p:nvSpPr>
        <p:spPr>
          <a:xfrm>
            <a:off x="8394502" y="3149159"/>
            <a:ext cx="1162199" cy="285750"/>
          </a:xfrm>
          <a:prstGeom prst="roundRect">
            <a:avLst>
              <a:gd name="adj" fmla="val 2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8527926" y="3234884"/>
            <a:ext cx="950976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PLAN FLEXIBLE</a:t>
            </a:r>
            <a:endParaRPr lang="en-US" sz="9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8204002" y="4100364"/>
            <a:ext cx="3530798" cy="2073325"/>
          </a:xfrm>
          <a:prstGeom prst="roundRect">
            <a:avLst>
              <a:gd name="adj" fmla="val 55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7" name="Text 35"/>
          <p:cNvSpPr/>
          <p:nvPr/>
        </p:nvSpPr>
        <p:spPr>
          <a:xfrm>
            <a:off x="8393088" y="4290864"/>
            <a:ext cx="1481328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Alcance y Soporte</a:t>
            </a:r>
            <a:endParaRPr lang="en-US" sz="1425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48" name="Text 36"/>
          <p:cNvSpPr/>
          <p:nvPr/>
        </p:nvSpPr>
        <p:spPr>
          <a:xfrm>
            <a:off x="11201400" y="4290864"/>
            <a:ext cx="342900" cy="3429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pic>
        <p:nvPicPr>
          <p:cNvPr id="49" name="Image 10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296650" y="4386114"/>
            <a:ext cx="152400" cy="15240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393013" y="4746501"/>
            <a:ext cx="3191256" cy="54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Incluye puesta en marcha y capacitación. No incluye costos de hosting, dominio o licencias de terceros externos al desarrollo.</a:t>
            </a:r>
            <a:endParaRPr lang="en-US" sz="1013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1" name="Text 38"/>
          <p:cNvSpPr/>
          <p:nvPr/>
        </p:nvSpPr>
        <p:spPr>
          <a:xfrm>
            <a:off x="8393013" y="5402163"/>
            <a:ext cx="326440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Soporte Gratuito</a:t>
            </a:r>
            <a:endParaRPr lang="en-US" sz="135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2" name="Text 39"/>
          <p:cNvSpPr/>
          <p:nvPr/>
        </p:nvSpPr>
        <p:spPr>
          <a:xfrm>
            <a:off x="8394502" y="5697438"/>
            <a:ext cx="1202234" cy="285750"/>
          </a:xfrm>
          <a:prstGeom prst="roundRect">
            <a:avLst>
              <a:gd name="adj" fmla="val 2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8528893" y="5783163"/>
            <a:ext cx="987552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INFO ADICIONAL</a:t>
            </a:r>
            <a:endParaRPr lang="en-US" sz="900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3D935941-457F-FA2D-B049-A7AB60F5225D}"/>
              </a:ext>
            </a:extLst>
          </p:cNvPr>
          <p:cNvSpPr/>
          <p:nvPr/>
        </p:nvSpPr>
        <p:spPr>
          <a:xfrm>
            <a:off x="4916812" y="4498640"/>
            <a:ext cx="511594" cy="316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40%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ANTICIPO</a:t>
            </a:r>
            <a:endParaRPr lang="en-US" sz="800" b="1" dirty="0"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7BFC41A7-D20C-A314-0F53-9B4D9FD350AB}"/>
              </a:ext>
            </a:extLst>
          </p:cNvPr>
          <p:cNvSpPr/>
          <p:nvPr/>
        </p:nvSpPr>
        <p:spPr>
          <a:xfrm>
            <a:off x="5840946" y="4402097"/>
            <a:ext cx="511594" cy="316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buNone/>
            </a:pPr>
            <a:endParaRPr lang="en-US" sz="800" b="1" dirty="0">
              <a:solidFill>
                <a:srgbClr val="333333"/>
              </a:solidFill>
              <a:latin typeface="Quire Sans" panose="020B0502040204020203" pitchFamily="34" charset="0"/>
              <a:ea typeface="HGMaruGothicMPRO" panose="020B0400000000000000" pitchFamily="34" charset="-128"/>
              <a:cs typeface="Quire Sans" panose="020B0502040204020203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30% - 30%</a:t>
            </a:r>
          </a:p>
          <a:p>
            <a:pPr marL="0" indent="0" algn="ctr">
              <a:buNone/>
            </a:pPr>
            <a:r>
              <a:rPr lang="en-US" sz="800" b="1" dirty="0"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CP1 / ENTREGA</a:t>
            </a: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CA69FF0-8FCE-DF70-4D78-0D7745DE89B5}"/>
              </a:ext>
            </a:extLst>
          </p:cNvPr>
          <p:cNvSpPr/>
          <p:nvPr/>
        </p:nvSpPr>
        <p:spPr>
          <a:xfrm>
            <a:off x="6775319" y="4511447"/>
            <a:ext cx="511594" cy="316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10 DIAS </a:t>
            </a:r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Quire Sans" panose="020B0502040204020203" pitchFamily="34" charset="0"/>
                <a:ea typeface="HGMaruGothicMPRO" panose="020B0400000000000000" pitchFamily="34" charset="-128"/>
                <a:cs typeface="Quire Sans" panose="020B0502040204020203" pitchFamily="34" charset="0"/>
              </a:rPr>
              <a:t>SOPORTE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E41B0E2F-14C7-843C-9824-91034C2529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C5A376A5-B18F-FEA6-27B2-E6234FC7EA88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281" y="457200"/>
            <a:ext cx="11622024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Impacto Operativo y Resultados Esperados</a:t>
            </a:r>
            <a:endParaRPr lang="en-US" sz="36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47875" y="1095375"/>
            <a:ext cx="814730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La Transformación Digital MPS Ayala impulsa mejoras cuantificables que se traducen en una rentabilidad sólida y una eficiencia operativa superior.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90725"/>
            <a:ext cx="4736455" cy="4572000"/>
          </a:xfrm>
          <a:prstGeom prst="roundRect">
            <a:avLst>
              <a:gd name="adj" fmla="val 25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03105" y="2162175"/>
            <a:ext cx="419100" cy="4191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17405" y="2276475"/>
            <a:ext cx="190500" cy="190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850" y="2595563"/>
            <a:ext cx="114300" cy="1143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74" y="2524125"/>
            <a:ext cx="241401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Rentabilidad Acelerada</a:t>
            </a:r>
            <a:endParaRPr lang="en-US" sz="18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6115" y="2914650"/>
            <a:ext cx="427939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La implementación del Proyecto Integral IPIDD garantiza un retorno de inversión significativo y sostenible. Al optimizar los recursos, el negocio no solo ahorra costos operativos, sino que fortalece su estructura financiera a largo plazo.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6115" y="4019550"/>
            <a:ext cx="427939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Esta evolución digital vincula los resultados técnicos directamente con la rentabilidad del negocio, asegurando que cada mejora operativa se convierta en un beneficio económico tangible.</a:t>
            </a:r>
            <a:endParaRPr lang="en-US" sz="12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04850" y="6034088"/>
            <a:ext cx="4241155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704850" y="6153150"/>
            <a:ext cx="152400" cy="133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6153150"/>
            <a:ext cx="415137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Enfoque en Retorno de Inversión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98455" y="1990725"/>
            <a:ext cx="6236345" cy="2171700"/>
          </a:xfrm>
          <a:prstGeom prst="roundRect">
            <a:avLst>
              <a:gd name="adj" fmla="val 526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144250" y="2162175"/>
            <a:ext cx="419100" cy="4191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68075" y="2276475"/>
            <a:ext cx="171450" cy="190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46105" y="2426940"/>
            <a:ext cx="114300" cy="1143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956995" y="2355503"/>
            <a:ext cx="242316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Eficiencia en el Servicio</a:t>
            </a:r>
            <a:endParaRPr lang="en-US" sz="18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744840" y="2747888"/>
            <a:ext cx="5788152" cy="7132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Proyectamos una </a:t>
            </a:r>
            <a:r>
              <a:rPr lang="en-US" sz="132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reducción del 40%</a:t>
            </a: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en el tiempo de atención en mostrador. Esto optimiza la productividad del personal y eleva drásticamente la satisfacción del cliente final.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746105" y="3611761"/>
            <a:ext cx="5741045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46105" y="3730823"/>
            <a:ext cx="114300" cy="1333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17555" y="3730823"/>
            <a:ext cx="57241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DEE8FD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Optimización de Tiempos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98455" y="4391025"/>
            <a:ext cx="6236345" cy="2171700"/>
          </a:xfrm>
          <a:prstGeom prst="roundRect">
            <a:avLst>
              <a:gd name="adj" fmla="val 526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144250" y="4562475"/>
            <a:ext cx="419100" cy="4191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58550" y="4676775"/>
            <a:ext cx="190500" cy="1905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46105" y="4930229"/>
            <a:ext cx="114300" cy="114300"/>
          </a:xfrm>
          <a:prstGeom prst="roundRect">
            <a:avLst>
              <a:gd name="adj" fmla="val 96000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956995" y="4858792"/>
            <a:ext cx="256946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Control y Oportunidades</a:t>
            </a:r>
            <a:endParaRPr lang="en-US" sz="18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5744840" y="5248275"/>
            <a:ext cx="5788152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Lograremos una </a:t>
            </a:r>
            <a:r>
              <a:rPr lang="en-US" sz="132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disminución del 60%</a:t>
            </a: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en errores de inventario y un </a:t>
            </a:r>
            <a:r>
              <a:rPr lang="en-US" sz="132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incremento del 35%</a:t>
            </a:r>
            <a:r>
              <a:rPr lang="en-US" sz="12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 en cotizaciones atendidas, maximizando cada oportunidad de negocio.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5746105" y="5909221"/>
            <a:ext cx="5741045" cy="0"/>
          </a:xfrm>
          <a:prstGeom prst="line">
            <a:avLst/>
          </a:prstGeom>
          <a:noFill/>
          <a:ln w="9525">
            <a:solidFill>
              <a:srgbClr val="7E9FF5"/>
            </a:solidFill>
            <a:prstDash val="solid"/>
          </a:ln>
        </p:spPr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46105" y="6028283"/>
            <a:ext cx="114300" cy="1333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917555" y="6028283"/>
            <a:ext cx="57241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DEE8FD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Precisión en Gestión de Stock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61950" y="18954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42851" y="2024062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1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5403205" y="18954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5584106" y="2024062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2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5403205" y="4295775"/>
            <a:ext cx="457200" cy="45720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584106" y="4424363"/>
            <a:ext cx="1463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3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9" name="Image 6" descr="image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81000" y="1914525"/>
            <a:ext cx="419100" cy="419100"/>
          </a:xfrm>
          <a:prstGeom prst="rect">
            <a:avLst/>
          </a:prstGeom>
        </p:spPr>
      </p:pic>
      <p:pic>
        <p:nvPicPr>
          <p:cNvPr id="40" name="Image 7" descr="image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422255" y="1914525"/>
            <a:ext cx="419100" cy="419100"/>
          </a:xfrm>
          <a:prstGeom prst="rect">
            <a:avLst/>
          </a:prstGeom>
        </p:spPr>
      </p:pic>
      <p:pic>
        <p:nvPicPr>
          <p:cNvPr id="41" name="Image 8" descr="image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422255" y="4314825"/>
            <a:ext cx="419100" cy="4191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D6B8C45F-0613-2FEA-9D97-BDBD79CA46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A5F5AD5F-B900-046A-95A4-8A486F1554DA}"/>
              </a:ext>
            </a:extLst>
          </p:cNvPr>
          <p:cNvSpPr/>
          <p:nvPr/>
        </p:nvSpPr>
        <p:spPr>
          <a:xfrm>
            <a:off x="7278" y="0"/>
            <a:ext cx="66103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43376" y="457200"/>
            <a:ext cx="11612880" cy="4937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Ventajas Competitivas y Soporte Post-Lanzamiento</a:t>
            </a:r>
            <a:endParaRPr lang="en-US" sz="33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09371" y="1019175"/>
            <a:ext cx="781812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Transformación Digital MPS Ayala: Proyecto Integral IPIDD para un control total y futuro sin límites.</a:t>
            </a:r>
            <a:endParaRPr lang="en-US" sz="13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47800"/>
            <a:ext cx="2647950" cy="2362200"/>
          </a:xfrm>
          <a:prstGeom prst="roundRect">
            <a:avLst>
              <a:gd name="adj" fmla="val 483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7477" y="1638300"/>
            <a:ext cx="15910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Ecosistema Propio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33650" y="1638300"/>
            <a:ext cx="381000" cy="3810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7475" y="1762125"/>
            <a:ext cx="133350" cy="133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7700" y="2133600"/>
            <a:ext cx="2304288" cy="1161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Eliminamos la dependencia de terceros, garantizando soberanía tecnológica y control absoluto del sistema.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7700" y="3405188"/>
            <a:ext cx="22669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700" y="3486150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Clave 1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33750" y="1447800"/>
            <a:ext cx="2647950" cy="2362200"/>
          </a:xfrm>
          <a:prstGeom prst="roundRect">
            <a:avLst>
              <a:gd name="adj" fmla="val 4839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23952" y="1638300"/>
            <a:ext cx="1645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Seguridad Robusta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10200" y="1638300"/>
            <a:ext cx="381000" cy="3810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4025" y="1762125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4250" y="2133600"/>
            <a:ext cx="2304288" cy="1161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Infraestructura diseñada para proteger sus datos críticos y asegurar la continuidad de su operación ferretera.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524250" y="3405188"/>
            <a:ext cx="226695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524250" y="3486150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Clave 2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210300" y="1447800"/>
            <a:ext cx="2647950" cy="2362200"/>
          </a:xfrm>
          <a:prstGeom prst="roundRect">
            <a:avLst>
              <a:gd name="adj" fmla="val 4839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399386" y="1638300"/>
            <a:ext cx="14721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Crecimiento Ágil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286750" y="1638300"/>
            <a:ext cx="381000" cy="3810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0575" y="1762125"/>
            <a:ext cx="133350" cy="1333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2133600"/>
            <a:ext cx="2304288" cy="1161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El sistema permite la expansión a futuras sucursales de manera sencilla, rápida y sin fricciones técnicas.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400800" y="3405188"/>
            <a:ext cx="226695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400800" y="3486150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Clave 3</a:t>
            </a:r>
            <a:endParaRPr lang="en-US" sz="9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086850" y="1447800"/>
            <a:ext cx="2647950" cy="2362200"/>
          </a:xfrm>
          <a:prstGeom prst="roundRect">
            <a:avLst>
              <a:gd name="adj" fmla="val 483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278838" y="1638300"/>
            <a:ext cx="157276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Unión de Procesos</a:t>
            </a:r>
            <a:endParaRPr lang="en-US" sz="15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1163300" y="1638300"/>
            <a:ext cx="381000" cy="381000"/>
          </a:xfrm>
          <a:prstGeom prst="roundRect">
            <a:avLst>
              <a:gd name="adj" fmla="val 960000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2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87125" y="1762125"/>
            <a:ext cx="133350" cy="1333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77350" y="2133600"/>
            <a:ext cx="2304288" cy="1161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Logramos una integración perfecta entre sus procesos físicos tradicionales y el nuevo entorno digital dinámico.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277350" y="3405188"/>
            <a:ext cx="22669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MX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9277350" y="3486150"/>
            <a:ext cx="2350008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Ventaja Clave 4</a:t>
            </a:r>
            <a:endParaRPr lang="en-US" sz="9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457200" y="3962400"/>
            <a:ext cx="7366099" cy="24384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47774" y="4152900"/>
            <a:ext cx="312724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Soporte y Escalabilidad Continua</a:t>
            </a:r>
            <a:endParaRPr lang="en-US" sz="16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49263" y="4514850"/>
            <a:ext cx="372160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Nuestro compromiso va más allá de la entrega inicial, asegurando la evolución constante de su plataforma.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105400"/>
            <a:ext cx="133350" cy="13335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58813" y="5067300"/>
            <a:ext cx="351129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Soporte técnico especializado para resolver incidencias en tiempo real.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38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486400"/>
            <a:ext cx="133350" cy="1333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8813" y="5448300"/>
            <a:ext cx="351129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Capacitación post-lanzamiento para una operatividad ininterrumpida.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0" name="Image 6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" y="5867400"/>
            <a:ext cx="133350" cy="13335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58813" y="5829300"/>
            <a:ext cx="351129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Preparación técnica para la expansión modular a nuevos puntos de venta.</a:t>
            </a:r>
            <a:endParaRPr lang="en-US" sz="105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5299025" y="4419600"/>
            <a:ext cx="1524000" cy="1524000"/>
          </a:xfrm>
          <a:prstGeom prst="roundRect">
            <a:avLst>
              <a:gd name="adj" fmla="val 600000"/>
            </a:avLst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43" name="Image 7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32425" y="4953000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051899" y="3962400"/>
            <a:ext cx="3682901" cy="2438400"/>
          </a:xfrm>
          <a:prstGeom prst="roundRect">
            <a:avLst>
              <a:gd name="adj" fmla="val 468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8240762" y="4152900"/>
            <a:ext cx="34198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bg2"/>
                </a:solidFill>
                <a:latin typeface="Quire Sans" panose="020B0502040204020203" pitchFamily="34" charset="0"/>
                <a:ea typeface="Times New Roman" pitchFamily="34" charset="-122"/>
                <a:cs typeface="Quire Sans" panose="020B0502040204020203" pitchFamily="34" charset="0"/>
              </a:rPr>
              <a:t>Promesa de Valor</a:t>
            </a:r>
            <a:endParaRPr lang="en-US" sz="150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8240762" y="4533900"/>
            <a:ext cx="3346704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Entregamos una transformación integral que consolida una operación más eficiente, rentable y conectada, lista para liderar el sector en el futuro.</a:t>
            </a:r>
            <a:endParaRPr lang="en-US" sz="1050" dirty="0">
              <a:solidFill>
                <a:schemeClr val="bg2"/>
              </a:solidFill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8242399" y="5810250"/>
            <a:ext cx="3301901" cy="400050"/>
          </a:xfrm>
          <a:prstGeom prst="roundRect">
            <a:avLst>
              <a:gd name="adj" fmla="val 19048"/>
            </a:avLst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8357964" y="5934075"/>
            <a:ext cx="111556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TSolutions IPIDD:</a:t>
            </a:r>
            <a:endParaRPr lang="en-US" sz="1050" b="1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sp>
        <p:nvSpPr>
          <p:cNvPr id="49" name="Text 39"/>
          <p:cNvSpPr/>
          <p:nvPr/>
        </p:nvSpPr>
        <p:spPr>
          <a:xfrm>
            <a:off x="10162922" y="5924550"/>
            <a:ext cx="124358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latin typeface="Quire Sans" panose="020B0502040204020203" pitchFamily="34" charset="0"/>
                <a:ea typeface="Arial" pitchFamily="34" charset="-122"/>
                <a:cs typeface="Quire Sans" panose="020B0502040204020203" pitchFamily="34" charset="0"/>
              </a:rPr>
              <a:t>Solidez y Futuro</a:t>
            </a:r>
            <a:endParaRPr lang="en-US" sz="1200" dirty="0">
              <a:latin typeface="Quire Sans" panose="020B0502040204020203" pitchFamily="34" charset="0"/>
              <a:cs typeface="Quire Sans" panose="020B0502040204020203" pitchFamily="34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B56226F-4D0A-45AB-094B-7F5C8CF42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394" y="314076"/>
            <a:ext cx="686891" cy="686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olutions ipidd">
      <a:dk1>
        <a:srgbClr val="000000"/>
      </a:dk1>
      <a:lt1>
        <a:srgbClr val="FFC000"/>
      </a:lt1>
      <a:dk2>
        <a:srgbClr val="000000"/>
      </a:dk2>
      <a:lt2>
        <a:srgbClr val="FFFFFF"/>
      </a:lt2>
      <a:accent1>
        <a:srgbClr val="FFC000"/>
      </a:accent1>
      <a:accent2>
        <a:srgbClr val="F9731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2210</Words>
  <Application>Microsoft Office PowerPoint</Application>
  <PresentationFormat>Panorámica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Quire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Javier Gallardo Tsolutions IPIDD</cp:lastModifiedBy>
  <cp:revision>15</cp:revision>
  <dcterms:created xsi:type="dcterms:W3CDTF">2026-07-04T02:04:51Z</dcterms:created>
  <dcterms:modified xsi:type="dcterms:W3CDTF">2026-07-04T17:07:56Z</dcterms:modified>
</cp:coreProperties>
</file>